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E8"/>
          </a:solidFill>
          <a:ln w="12700">
            <a:solidFill>
              <a:srgbClr val="00A8E8"/>
            </a:solidFill>
            <a:prstDash val="solid"/>
          </a:ln>
        </p:spPr>
      </p:sp>
      <p:sp>
        <p:nvSpPr>
          <p:cNvPr id="3" name="Shape 1"/>
          <p:cNvSpPr/>
          <p:nvPr/>
        </p:nvSpPr>
        <p:spPr>
          <a:xfrm>
            <a:off x="5943600" y="-914400"/>
            <a:ext cx="5029200" cy="5029200"/>
          </a:xfrm>
          <a:prstGeom prst="ellipse">
            <a:avLst/>
          </a:prstGeom>
          <a:solidFill>
            <a:srgbClr val="00A8E8">
              <a:alpha val="12000"/>
            </a:srgbClr>
          </a:solidFill>
          <a:ln w="12700">
            <a:solidFill>
              <a:srgbClr val="00A8E8">
                <a:alpha val="30000"/>
              </a:srgbClr>
            </a:solidFill>
            <a:prstDash val="solid"/>
          </a:ln>
        </p:spPr>
      </p:sp>
      <p:sp>
        <p:nvSpPr>
          <p:cNvPr id="4" name="Shape 2"/>
          <p:cNvSpPr/>
          <p:nvPr/>
        </p:nvSpPr>
        <p:spPr>
          <a:xfrm>
            <a:off x="6583680" y="-274320"/>
            <a:ext cx="3200400" cy="3200400"/>
          </a:xfrm>
          <a:prstGeom prst="ellipse">
            <a:avLst/>
          </a:prstGeom>
          <a:solidFill>
            <a:srgbClr val="F47B20">
              <a:alpha val="8000"/>
            </a:srgbClr>
          </a:solidFill>
          <a:ln w="12700">
            <a:solidFill>
              <a:srgbClr val="F47B20">
                <a:alpha val="25000"/>
              </a:srgbClr>
            </a:solidFill>
            <a:prstDash val="solid"/>
          </a:ln>
        </p:spPr>
      </p:sp>
      <p:sp>
        <p:nvSpPr>
          <p:cNvPr id="5" name="Shape 3"/>
          <p:cNvSpPr/>
          <p:nvPr/>
        </p:nvSpPr>
        <p:spPr>
          <a:xfrm>
            <a:off x="7132320" y="914400"/>
            <a:ext cx="1371600" cy="1371600"/>
          </a:xfrm>
          <a:prstGeom prst="ellipse">
            <a:avLst/>
          </a:prstGeom>
          <a:solidFill>
            <a:srgbClr val="00A8E8">
              <a:alpha val="80000"/>
            </a:srgbClr>
          </a:solidFill>
          <a:ln w="12700">
            <a:solidFill>
              <a:srgbClr val="00A8E8"/>
            </a:solidFill>
            <a:prstDash val="solid"/>
          </a:ln>
        </p:spPr>
      </p:sp>
      <p:sp>
        <p:nvSpPr>
          <p:cNvPr id="6" name="Text 4"/>
          <p:cNvSpPr/>
          <p:nvPr/>
        </p:nvSpPr>
        <p:spPr>
          <a:xfrm>
            <a:off x="7132320" y="914400"/>
            <a:ext cx="1371600" cy="1371600"/>
          </a:xfrm>
          <a:prstGeom prst="rect">
            <a:avLst/>
          </a:prstGeom>
          <a:noFill/>
          <a:ln/>
        </p:spPr>
        <p:txBody>
          <a:bodyPr wrap="square" rtlCol="0" anchor="ctr"/>
          <a:lstStyle/>
          <a:p>
            <a:pPr algn="ctr" indent="0" marL="0">
              <a:buNone/>
            </a:pPr>
            <a:r>
              <a:rPr lang="en-US" sz="2800" b="1" dirty="0">
                <a:solidFill>
                  <a:srgbClr val="FFFFFF"/>
                </a:solidFill>
              </a:rPr>
              <a:t>AI</a:t>
            </a:r>
            <a:endParaRPr lang="en-US" sz="2800" dirty="0"/>
          </a:p>
        </p:txBody>
      </p:sp>
      <p:sp>
        <p:nvSpPr>
          <p:cNvPr id="7" name="Shape 5"/>
          <p:cNvSpPr/>
          <p:nvPr/>
        </p:nvSpPr>
        <p:spPr>
          <a:xfrm>
            <a:off x="457200" y="502920"/>
            <a:ext cx="3474720" cy="320040"/>
          </a:xfrm>
          <a:prstGeom prst="rect">
            <a:avLst/>
          </a:prstGeom>
          <a:solidFill>
            <a:srgbClr val="F47B20">
              <a:alpha val="85000"/>
            </a:srgbClr>
          </a:solidFill>
          <a:ln w="12700">
            <a:solidFill>
              <a:srgbClr val="F47B20"/>
            </a:solidFill>
            <a:prstDash val="solid"/>
          </a:ln>
        </p:spPr>
      </p:sp>
      <p:sp>
        <p:nvSpPr>
          <p:cNvPr id="8" name="Text 6"/>
          <p:cNvSpPr/>
          <p:nvPr/>
        </p:nvSpPr>
        <p:spPr>
          <a:xfrm>
            <a:off x="457200" y="502920"/>
            <a:ext cx="3474720" cy="320040"/>
          </a:xfrm>
          <a:prstGeom prst="rect">
            <a:avLst/>
          </a:prstGeom>
          <a:noFill/>
          <a:ln/>
        </p:spPr>
        <p:txBody>
          <a:bodyPr wrap="square" lIns="0" tIns="0" rIns="0" bIns="0" rtlCol="0" anchor="ctr"/>
          <a:lstStyle/>
          <a:p>
            <a:pPr algn="ctr" indent="0" marL="0">
              <a:buNone/>
            </a:pPr>
            <a:r>
              <a:rPr lang="en-US" sz="1100" b="1" dirty="0">
                <a:solidFill>
                  <a:srgbClr val="FFFFFF"/>
                </a:solidFill>
              </a:rPr>
              <a:t>AI / ML &amp; Data Analytics</a:t>
            </a:r>
            <a:endParaRPr lang="en-US" sz="1100" dirty="0"/>
          </a:p>
        </p:txBody>
      </p:sp>
      <p:sp>
        <p:nvSpPr>
          <p:cNvPr id="9" name="Text 7"/>
          <p:cNvSpPr/>
          <p:nvPr/>
        </p:nvSpPr>
        <p:spPr>
          <a:xfrm>
            <a:off x="457200" y="1051560"/>
            <a:ext cx="6400800" cy="82296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AI File Management</a:t>
            </a:r>
            <a:endParaRPr lang="en-US" sz="4400" dirty="0"/>
          </a:p>
        </p:txBody>
      </p:sp>
      <p:sp>
        <p:nvSpPr>
          <p:cNvPr id="10" name="Text 8"/>
          <p:cNvSpPr/>
          <p:nvPr/>
        </p:nvSpPr>
        <p:spPr>
          <a:xfrm>
            <a:off x="457200" y="1783080"/>
            <a:ext cx="6400800" cy="685800"/>
          </a:xfrm>
          <a:prstGeom prst="rect">
            <a:avLst/>
          </a:prstGeom>
          <a:noFill/>
          <a:ln/>
        </p:spPr>
        <p:txBody>
          <a:bodyPr wrap="square" rtlCol="0" anchor="ctr"/>
          <a:lstStyle/>
          <a:p>
            <a:pPr indent="0" marL="0">
              <a:buNone/>
            </a:pPr>
            <a:r>
              <a:rPr lang="en-US" sz="4400" b="1" dirty="0">
                <a:solidFill>
                  <a:srgbClr val="00A8E8"/>
                </a:solidFill>
                <a:latin typeface="Calibri" pitchFamily="34" charset="0"/>
                <a:ea typeface="Calibri" pitchFamily="34" charset="-122"/>
                <a:cs typeface="Calibri" pitchFamily="34" charset="-120"/>
              </a:rPr>
              <a:t>System</a:t>
            </a:r>
            <a:endParaRPr lang="en-US" sz="4400" dirty="0"/>
          </a:p>
        </p:txBody>
      </p:sp>
      <p:sp>
        <p:nvSpPr>
          <p:cNvPr id="11" name="Text 9"/>
          <p:cNvSpPr/>
          <p:nvPr/>
        </p:nvSpPr>
        <p:spPr>
          <a:xfrm>
            <a:off x="457200" y="2606040"/>
            <a:ext cx="6217920" cy="411480"/>
          </a:xfrm>
          <a:prstGeom prst="rect">
            <a:avLst/>
          </a:prstGeom>
          <a:noFill/>
          <a:ln/>
        </p:spPr>
        <p:txBody>
          <a:bodyPr wrap="square" rtlCol="0" anchor="ctr"/>
          <a:lstStyle/>
          <a:p>
            <a:pPr indent="0" marL="0">
              <a:buNone/>
            </a:pPr>
            <a:r>
              <a:rPr lang="en-US" sz="1400" i="1" dirty="0">
                <a:solidFill>
                  <a:srgbClr val="B0C4D8"/>
                </a:solidFill>
              </a:rPr>
              <a:t>Intelligent Document Processing &amp; Semantic Search Platform</a:t>
            </a:r>
            <a:endParaRPr lang="en-US" sz="1400" dirty="0"/>
          </a:p>
        </p:txBody>
      </p:sp>
      <p:sp>
        <p:nvSpPr>
          <p:cNvPr id="12" name="Shape 10"/>
          <p:cNvSpPr/>
          <p:nvPr/>
        </p:nvSpPr>
        <p:spPr>
          <a:xfrm>
            <a:off x="457200" y="3154680"/>
            <a:ext cx="5029200" cy="18288"/>
          </a:xfrm>
          <a:prstGeom prst="rect">
            <a:avLst/>
          </a:prstGeom>
          <a:solidFill>
            <a:srgbClr val="00A8E8">
              <a:alpha val="60000"/>
            </a:srgbClr>
          </a:solidFill>
          <a:ln w="12700">
            <a:solidFill>
              <a:srgbClr val="00A8E8">
                <a:alpha val="60000"/>
              </a:srgbClr>
            </a:solidFill>
            <a:prstDash val="solid"/>
          </a:ln>
        </p:spPr>
      </p:sp>
      <p:sp>
        <p:nvSpPr>
          <p:cNvPr id="13" name="Text 11"/>
          <p:cNvSpPr/>
          <p:nvPr/>
        </p:nvSpPr>
        <p:spPr>
          <a:xfrm>
            <a:off x="457200" y="3337560"/>
            <a:ext cx="6400800" cy="274320"/>
          </a:xfrm>
          <a:prstGeom prst="rect">
            <a:avLst/>
          </a:prstGeom>
          <a:noFill/>
          <a:ln/>
        </p:spPr>
        <p:txBody>
          <a:bodyPr wrap="square" rtlCol="0" anchor="ctr"/>
          <a:lstStyle/>
          <a:p>
            <a:pPr indent="0" marL="0">
              <a:buNone/>
            </a:pPr>
            <a:r>
              <a:rPr lang="en-US" sz="1300" b="1" dirty="0">
                <a:solidFill>
                  <a:srgbClr val="B0C4D8"/>
                </a:solidFill>
              </a:rPr>
              <a:t>Submitted By: </a:t>
            </a:r>
            <a:pPr indent="0" marL="0">
              <a:buNone/>
            </a:pPr>
            <a:r>
              <a:rPr lang="en-US" sz="1300" b="1" dirty="0">
                <a:solidFill>
                  <a:srgbClr val="FFFFFF"/>
                </a:solidFill>
              </a:rPr>
              <a:t>Ben Sebastian Joseph</a:t>
            </a:r>
            <a:endParaRPr lang="en-US" sz="1300" dirty="0"/>
          </a:p>
        </p:txBody>
      </p:sp>
      <p:sp>
        <p:nvSpPr>
          <p:cNvPr id="14" name="Text 12"/>
          <p:cNvSpPr/>
          <p:nvPr/>
        </p:nvSpPr>
        <p:spPr>
          <a:xfrm>
            <a:off x="457200" y="3685032"/>
            <a:ext cx="6400800" cy="274320"/>
          </a:xfrm>
          <a:prstGeom prst="rect">
            <a:avLst/>
          </a:prstGeom>
          <a:noFill/>
          <a:ln/>
        </p:spPr>
        <p:txBody>
          <a:bodyPr wrap="square" rtlCol="0" anchor="ctr"/>
          <a:lstStyle/>
          <a:p>
            <a:pPr indent="0" marL="0">
              <a:buNone/>
            </a:pPr>
            <a:r>
              <a:rPr lang="en-US" sz="1300" b="1" dirty="0">
                <a:solidFill>
                  <a:srgbClr val="B0C4D8"/>
                </a:solidFill>
              </a:rPr>
              <a:t>Project Guide &amp; Coordinator: </a:t>
            </a:r>
            <a:pPr indent="0" marL="0">
              <a:buNone/>
            </a:pPr>
            <a:r>
              <a:rPr lang="en-US" sz="1300" b="1" dirty="0">
                <a:solidFill>
                  <a:srgbClr val="F47B20"/>
                </a:solidFill>
              </a:rPr>
              <a:t>Ms. Selin Sam</a:t>
            </a:r>
            <a:endParaRPr lang="en-US" sz="1300" dirty="0"/>
          </a:p>
        </p:txBody>
      </p:sp>
      <p:sp>
        <p:nvSpPr>
          <p:cNvPr id="15" name="Text 13"/>
          <p:cNvSpPr/>
          <p:nvPr/>
        </p:nvSpPr>
        <p:spPr>
          <a:xfrm>
            <a:off x="457200" y="4032504"/>
            <a:ext cx="6858000" cy="274320"/>
          </a:xfrm>
          <a:prstGeom prst="rect">
            <a:avLst/>
          </a:prstGeom>
          <a:noFill/>
          <a:ln/>
        </p:spPr>
        <p:txBody>
          <a:bodyPr wrap="square" rtlCol="0" anchor="ctr"/>
          <a:lstStyle/>
          <a:p>
            <a:pPr indent="0" marL="0">
              <a:buNone/>
            </a:pPr>
            <a:r>
              <a:rPr lang="en-US" sz="1200" dirty="0">
                <a:solidFill>
                  <a:srgbClr val="B0C4D8"/>
                </a:solidFill>
              </a:rPr>
              <a:t>Amal Jyothi College of Engineering, Kanjirapally (Autonomous)</a:t>
            </a:r>
            <a:endParaRPr lang="en-US" sz="1200" dirty="0"/>
          </a:p>
        </p:txBody>
      </p:sp>
      <p:sp>
        <p:nvSpPr>
          <p:cNvPr id="16" name="Shape 14"/>
          <p:cNvSpPr/>
          <p:nvPr/>
        </p:nvSpPr>
        <p:spPr>
          <a:xfrm>
            <a:off x="0" y="4983480"/>
            <a:ext cx="9144000" cy="164592"/>
          </a:xfrm>
          <a:prstGeom prst="rect">
            <a:avLst/>
          </a:prstGeom>
          <a:solidFill>
            <a:srgbClr val="1B263B"/>
          </a:solidFill>
          <a:ln w="12700">
            <a:solidFill>
              <a:srgbClr val="1B263B"/>
            </a:solidFill>
            <a:prstDash val="solid"/>
          </a:ln>
        </p:spPr>
      </p:sp>
      <p:sp>
        <p:nvSpPr>
          <p:cNvPr id="17" name="Text 15"/>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Final Project Presentation  |  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E8"/>
          </a:solidFill>
          <a:ln w="12700">
            <a:solidFill>
              <a:srgbClr val="00A8E8"/>
            </a:solidFill>
            <a:prstDash val="solid"/>
          </a:ln>
        </p:spPr>
      </p:sp>
      <p:sp>
        <p:nvSpPr>
          <p:cNvPr id="3" name="Shape 1"/>
          <p:cNvSpPr/>
          <p:nvPr/>
        </p:nvSpPr>
        <p:spPr>
          <a:xfrm>
            <a:off x="457200" y="182880"/>
            <a:ext cx="1097280" cy="274320"/>
          </a:xfrm>
          <a:prstGeom prst="rect">
            <a:avLst/>
          </a:prstGeom>
          <a:solidFill>
            <a:srgbClr val="F47B20"/>
          </a:solidFill>
          <a:ln w="12700">
            <a:solidFill>
              <a:srgbClr val="F47B20"/>
            </a:solidFill>
            <a:prstDash val="solid"/>
          </a:ln>
        </p:spPr>
      </p:sp>
      <p:sp>
        <p:nvSpPr>
          <p:cNvPr id="4" name="Text 2"/>
          <p:cNvSpPr/>
          <p:nvPr/>
        </p:nvSpPr>
        <p:spPr>
          <a:xfrm>
            <a:off x="457200" y="18288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rPr>
              <a:t>PHASE 0</a:t>
            </a:r>
            <a:endParaRPr lang="en-US" sz="900" dirty="0"/>
          </a:p>
        </p:txBody>
      </p:sp>
      <p:sp>
        <p:nvSpPr>
          <p:cNvPr id="5" name="Text 3"/>
          <p:cNvSpPr/>
          <p:nvPr/>
        </p:nvSpPr>
        <p:spPr>
          <a:xfrm>
            <a:off x="1691640" y="164592"/>
            <a:ext cx="713232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Problem Identification &amp; Feasibility</a:t>
            </a:r>
            <a:endParaRPr lang="en-US" sz="2200" dirty="0"/>
          </a:p>
        </p:txBody>
      </p:sp>
      <p:sp>
        <p:nvSpPr>
          <p:cNvPr id="6" name="Shape 4"/>
          <p:cNvSpPr/>
          <p:nvPr/>
        </p:nvSpPr>
        <p:spPr>
          <a:xfrm>
            <a:off x="365760" y="685800"/>
            <a:ext cx="3977640" cy="4069080"/>
          </a:xfrm>
          <a:prstGeom prst="rect">
            <a:avLst/>
          </a:prstGeom>
          <a:solidFill>
            <a:srgbClr val="162536"/>
          </a:solidFill>
          <a:ln w="12700">
            <a:solidFill>
              <a:srgbClr val="00A8E8"/>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365760" y="685800"/>
            <a:ext cx="54864" cy="457200"/>
          </a:xfrm>
          <a:prstGeom prst="rect">
            <a:avLst/>
          </a:prstGeom>
          <a:solidFill>
            <a:srgbClr val="00A8E8"/>
          </a:solidFill>
          <a:ln w="12700">
            <a:solidFill>
              <a:srgbClr val="00A8E8"/>
            </a:solidFill>
            <a:prstDash val="solid"/>
          </a:ln>
        </p:spPr>
      </p:sp>
      <p:sp>
        <p:nvSpPr>
          <p:cNvPr id="8" name="Text 6"/>
          <p:cNvSpPr/>
          <p:nvPr/>
        </p:nvSpPr>
        <p:spPr>
          <a:xfrm>
            <a:off x="502920" y="713232"/>
            <a:ext cx="3749040" cy="402336"/>
          </a:xfrm>
          <a:prstGeom prst="rect">
            <a:avLst/>
          </a:prstGeom>
          <a:noFill/>
          <a:ln/>
        </p:spPr>
        <p:txBody>
          <a:bodyPr wrap="square" rtlCol="0" anchor="ctr"/>
          <a:lstStyle/>
          <a:p>
            <a:pPr indent="0" marL="0">
              <a:buNone/>
            </a:pPr>
            <a:r>
              <a:rPr lang="en-US" sz="1300" b="1" dirty="0">
                <a:solidFill>
                  <a:srgbClr val="F47B20"/>
                </a:solidFill>
              </a:rPr>
              <a:t>⚠  THE PROBLEM</a:t>
            </a:r>
            <a:endParaRPr lang="en-US" sz="1300" dirty="0"/>
          </a:p>
        </p:txBody>
      </p:sp>
      <p:sp>
        <p:nvSpPr>
          <p:cNvPr id="9" name="Text 7"/>
          <p:cNvSpPr/>
          <p:nvPr/>
        </p:nvSpPr>
        <p:spPr>
          <a:xfrm>
            <a:off x="502920" y="1170432"/>
            <a:ext cx="3703320" cy="3401568"/>
          </a:xfrm>
          <a:prstGeom prst="rect">
            <a:avLst/>
          </a:prstGeom>
          <a:noFill/>
          <a:ln/>
        </p:spPr>
        <p:txBody>
          <a:bodyPr wrap="square" rtlCol="0" anchor="t"/>
          <a:lstStyle/>
          <a:p>
            <a:pPr indent="0" marL="0">
              <a:lnSpc>
                <a:spcPct val="165000"/>
              </a:lnSpc>
              <a:buNone/>
            </a:pPr>
            <a:r>
              <a:rPr lang="en-US" sz="1200" b="1" dirty="0">
                <a:solidFill>
                  <a:srgbClr val="00A8E8"/>
                </a:solidFill>
              </a:rPr>
              <a:t>1.  </a:t>
            </a:r>
            <a:pPr indent="0" marL="0">
              <a:lnSpc>
                <a:spcPct val="165000"/>
              </a:lnSpc>
              <a:buNone/>
            </a:pPr>
            <a:r>
              <a:rPr lang="en-US" sz="1200" dirty="0">
                <a:solidFill>
                  <a:srgbClr val="E8F4FC"/>
                </a:solidFill>
              </a:rPr>
              <a:t>Information overload from rapidly growing unstructured document volumes</a:t>
            </a:r>
            <a:pPr indent="0" marL="0">
              <a:lnSpc>
                <a:spcPct val="165000"/>
              </a:lnSpc>
              <a:buNone/>
            </a:pPr>
            <a:r>
              <a:rPr lang="en-US" sz="1200" dirty="0">
                <a:solidFill>
                  <a:srgbClr val="000000"/>
                </a:solidFill>
              </a:rPr>
              <a:t>
</a:t>
            </a:r>
            <a:pPr indent="0" marL="0">
              <a:lnSpc>
                <a:spcPct val="165000"/>
              </a:lnSpc>
              <a:buNone/>
            </a:pPr>
            <a:r>
              <a:rPr lang="en-US" sz="1200" b="1" dirty="0">
                <a:solidFill>
                  <a:srgbClr val="00A8E8"/>
                </a:solidFill>
              </a:rPr>
              <a:t>2.  </a:t>
            </a:r>
            <a:pPr indent="0" marL="0">
              <a:lnSpc>
                <a:spcPct val="165000"/>
              </a:lnSpc>
              <a:buNone/>
            </a:pPr>
            <a:r>
              <a:rPr lang="en-US" sz="1200" dirty="0">
                <a:solidFill>
                  <a:srgbClr val="E8F4FC"/>
                </a:solidFill>
              </a:rPr>
              <a:t>Rigid folder structures &amp; basic keyword search are ineffective</a:t>
            </a:r>
            <a:pPr indent="0" marL="0">
              <a:lnSpc>
                <a:spcPct val="165000"/>
              </a:lnSpc>
              <a:buNone/>
            </a:pPr>
            <a:r>
              <a:rPr lang="en-US" sz="1200" dirty="0">
                <a:solidFill>
                  <a:srgbClr val="000000"/>
                </a:solidFill>
              </a:rPr>
              <a:t>
</a:t>
            </a:r>
            <a:pPr indent="0" marL="0">
              <a:lnSpc>
                <a:spcPct val="165000"/>
              </a:lnSpc>
              <a:buNone/>
            </a:pPr>
            <a:r>
              <a:rPr lang="en-US" sz="1200" b="1" dirty="0">
                <a:solidFill>
                  <a:srgbClr val="00A8E8"/>
                </a:solidFill>
              </a:rPr>
              <a:t>3.  </a:t>
            </a:r>
            <a:pPr indent="0" marL="0">
              <a:lnSpc>
                <a:spcPct val="165000"/>
              </a:lnSpc>
              <a:buNone/>
            </a:pPr>
            <a:r>
              <a:rPr lang="en-US" sz="1200" dirty="0">
                <a:solidFill>
                  <a:srgbClr val="E8F4FC"/>
                </a:solidFill>
              </a:rPr>
              <a:t>Mixed formats — PDFs, DOCX, scanned images — are hard to analyze</a:t>
            </a:r>
            <a:pPr indent="0" marL="0">
              <a:lnSpc>
                <a:spcPct val="165000"/>
              </a:lnSpc>
              <a:buNone/>
            </a:pPr>
            <a:r>
              <a:rPr lang="en-US" sz="1200" dirty="0">
                <a:solidFill>
                  <a:srgbClr val="000000"/>
                </a:solidFill>
              </a:rPr>
              <a:t>
</a:t>
            </a:r>
            <a:pPr indent="0" marL="0">
              <a:lnSpc>
                <a:spcPct val="165000"/>
              </a:lnSpc>
              <a:buNone/>
            </a:pPr>
            <a:r>
              <a:rPr lang="en-US" sz="1200" b="1" dirty="0">
                <a:solidFill>
                  <a:srgbClr val="00A8E8"/>
                </a:solidFill>
              </a:rPr>
              <a:t>4.  </a:t>
            </a:r>
            <a:pPr indent="0" marL="0">
              <a:lnSpc>
                <a:spcPct val="165000"/>
              </a:lnSpc>
              <a:buNone/>
            </a:pPr>
            <a:r>
              <a:rPr lang="en-US" sz="1200" dirty="0">
                <a:solidFill>
                  <a:srgbClr val="E8F4FC"/>
                </a:solidFill>
              </a:rPr>
              <a:t>Manual duplicate detection and insight extraction is tedious &amp; error-prone</a:t>
            </a:r>
            <a:endParaRPr lang="en-US" sz="1200" dirty="0"/>
          </a:p>
        </p:txBody>
      </p:sp>
      <p:sp>
        <p:nvSpPr>
          <p:cNvPr id="10" name="Shape 8"/>
          <p:cNvSpPr/>
          <p:nvPr/>
        </p:nvSpPr>
        <p:spPr>
          <a:xfrm>
            <a:off x="4754880" y="685800"/>
            <a:ext cx="3977640" cy="4069080"/>
          </a:xfrm>
          <a:prstGeom prst="rect">
            <a:avLst/>
          </a:prstGeom>
          <a:solidFill>
            <a:srgbClr val="162536"/>
          </a:solidFill>
          <a:ln w="12700">
            <a:solidFill>
              <a:srgbClr val="F47B20"/>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4754880" y="685800"/>
            <a:ext cx="54864" cy="457200"/>
          </a:xfrm>
          <a:prstGeom prst="rect">
            <a:avLst/>
          </a:prstGeom>
          <a:solidFill>
            <a:srgbClr val="00A8E8"/>
          </a:solidFill>
          <a:ln w="12700">
            <a:solidFill>
              <a:srgbClr val="00A8E8"/>
            </a:solidFill>
            <a:prstDash val="solid"/>
          </a:ln>
        </p:spPr>
      </p:sp>
      <p:sp>
        <p:nvSpPr>
          <p:cNvPr id="12" name="Text 10"/>
          <p:cNvSpPr/>
          <p:nvPr/>
        </p:nvSpPr>
        <p:spPr>
          <a:xfrm>
            <a:off x="4892040" y="713232"/>
            <a:ext cx="3749040" cy="402336"/>
          </a:xfrm>
          <a:prstGeom prst="rect">
            <a:avLst/>
          </a:prstGeom>
          <a:noFill/>
          <a:ln/>
        </p:spPr>
        <p:txBody>
          <a:bodyPr wrap="square" rtlCol="0" anchor="ctr"/>
          <a:lstStyle/>
          <a:p>
            <a:pPr indent="0" marL="0">
              <a:buNone/>
            </a:pPr>
            <a:r>
              <a:rPr lang="en-US" sz="1300" b="1" dirty="0">
                <a:solidFill>
                  <a:srgbClr val="00A8E8"/>
                </a:solidFill>
              </a:rPr>
              <a:t>✓  FEASIBILITY</a:t>
            </a:r>
            <a:endParaRPr lang="en-US" sz="1300" dirty="0"/>
          </a:p>
        </p:txBody>
      </p:sp>
      <p:sp>
        <p:nvSpPr>
          <p:cNvPr id="13" name="Text 11"/>
          <p:cNvSpPr/>
          <p:nvPr/>
        </p:nvSpPr>
        <p:spPr>
          <a:xfrm>
            <a:off x="4892040" y="1234440"/>
            <a:ext cx="3703320" cy="228600"/>
          </a:xfrm>
          <a:prstGeom prst="rect">
            <a:avLst/>
          </a:prstGeom>
          <a:noFill/>
          <a:ln/>
        </p:spPr>
        <p:txBody>
          <a:bodyPr wrap="square" rtlCol="0" anchor="ctr"/>
          <a:lstStyle/>
          <a:p>
            <a:pPr indent="0" marL="0">
              <a:buNone/>
            </a:pPr>
            <a:r>
              <a:rPr lang="en-US" sz="1200" b="1" dirty="0">
                <a:solidFill>
                  <a:srgbClr val="F47B20"/>
                </a:solidFill>
              </a:rPr>
              <a:t>High data availability</a:t>
            </a:r>
            <a:endParaRPr lang="en-US" sz="1200" dirty="0"/>
          </a:p>
        </p:txBody>
      </p:sp>
      <p:sp>
        <p:nvSpPr>
          <p:cNvPr id="14" name="Text 12"/>
          <p:cNvSpPr/>
          <p:nvPr/>
        </p:nvSpPr>
        <p:spPr>
          <a:xfrm>
            <a:off x="4892040" y="1463040"/>
            <a:ext cx="3703320" cy="411480"/>
          </a:xfrm>
          <a:prstGeom prst="rect">
            <a:avLst/>
          </a:prstGeom>
          <a:noFill/>
          <a:ln/>
        </p:spPr>
        <p:txBody>
          <a:bodyPr wrap="square" rtlCol="0" anchor="ctr"/>
          <a:lstStyle/>
          <a:p>
            <a:pPr indent="0" marL="0">
              <a:buNone/>
            </a:pPr>
            <a:r>
              <a:rPr lang="en-US" sz="1100" dirty="0">
                <a:solidFill>
                  <a:srgbClr val="B0C4D8"/>
                </a:solidFill>
              </a:rPr>
              <a:t>PDFs, DOCX, images are ubiquitous and easy to source</a:t>
            </a:r>
            <a:endParaRPr lang="en-US" sz="1100" dirty="0"/>
          </a:p>
        </p:txBody>
      </p:sp>
      <p:sp>
        <p:nvSpPr>
          <p:cNvPr id="15" name="Text 13"/>
          <p:cNvSpPr/>
          <p:nvPr/>
        </p:nvSpPr>
        <p:spPr>
          <a:xfrm>
            <a:off x="4892040" y="2011680"/>
            <a:ext cx="3703320" cy="228600"/>
          </a:xfrm>
          <a:prstGeom prst="rect">
            <a:avLst/>
          </a:prstGeom>
          <a:noFill/>
          <a:ln/>
        </p:spPr>
        <p:txBody>
          <a:bodyPr wrap="square" rtlCol="0" anchor="ctr"/>
          <a:lstStyle/>
          <a:p>
            <a:pPr indent="0" marL="0">
              <a:buNone/>
            </a:pPr>
            <a:r>
              <a:rPr lang="en-US" sz="1200" b="1" dirty="0">
                <a:solidFill>
                  <a:srgbClr val="F47B20"/>
                </a:solidFill>
              </a:rPr>
              <a:t>Robust AI models</a:t>
            </a:r>
            <a:endParaRPr lang="en-US" sz="1200" dirty="0"/>
          </a:p>
        </p:txBody>
      </p:sp>
      <p:sp>
        <p:nvSpPr>
          <p:cNvPr id="16" name="Text 14"/>
          <p:cNvSpPr/>
          <p:nvPr/>
        </p:nvSpPr>
        <p:spPr>
          <a:xfrm>
            <a:off x="4892040" y="2240280"/>
            <a:ext cx="3703320" cy="411480"/>
          </a:xfrm>
          <a:prstGeom prst="rect">
            <a:avLst/>
          </a:prstGeom>
          <a:noFill/>
          <a:ln/>
        </p:spPr>
        <p:txBody>
          <a:bodyPr wrap="square" rtlCol="0" anchor="ctr"/>
          <a:lstStyle/>
          <a:p>
            <a:pPr indent="0" marL="0">
              <a:buNone/>
            </a:pPr>
            <a:r>
              <a:rPr lang="en-US" sz="1100" dirty="0">
                <a:solidFill>
                  <a:srgbClr val="B0C4D8"/>
                </a:solidFill>
              </a:rPr>
              <a:t>Sentence-Transformers, Pegasus, LLaMA 3.3 are proven</a:t>
            </a:r>
            <a:endParaRPr lang="en-US" sz="1100" dirty="0"/>
          </a:p>
        </p:txBody>
      </p:sp>
      <p:sp>
        <p:nvSpPr>
          <p:cNvPr id="17" name="Text 15"/>
          <p:cNvSpPr/>
          <p:nvPr/>
        </p:nvSpPr>
        <p:spPr>
          <a:xfrm>
            <a:off x="4892040" y="2788920"/>
            <a:ext cx="3703320" cy="228600"/>
          </a:xfrm>
          <a:prstGeom prst="rect">
            <a:avLst/>
          </a:prstGeom>
          <a:noFill/>
          <a:ln/>
        </p:spPr>
        <p:txBody>
          <a:bodyPr wrap="square" rtlCol="0" anchor="ctr"/>
          <a:lstStyle/>
          <a:p>
            <a:pPr indent="0" marL="0">
              <a:buNone/>
            </a:pPr>
            <a:r>
              <a:rPr lang="en-US" sz="1200" b="1" dirty="0">
                <a:solidFill>
                  <a:srgbClr val="F47B20"/>
                </a:solidFill>
              </a:rPr>
              <a:t>Strong frameworks</a:t>
            </a:r>
            <a:endParaRPr lang="en-US" sz="1200" dirty="0"/>
          </a:p>
        </p:txBody>
      </p:sp>
      <p:sp>
        <p:nvSpPr>
          <p:cNvPr id="18" name="Text 16"/>
          <p:cNvSpPr/>
          <p:nvPr/>
        </p:nvSpPr>
        <p:spPr>
          <a:xfrm>
            <a:off x="4892040" y="3017520"/>
            <a:ext cx="3703320" cy="411480"/>
          </a:xfrm>
          <a:prstGeom prst="rect">
            <a:avLst/>
          </a:prstGeom>
          <a:noFill/>
          <a:ln/>
        </p:spPr>
        <p:txBody>
          <a:bodyPr wrap="square" rtlCol="0" anchor="ctr"/>
          <a:lstStyle/>
          <a:p>
            <a:pPr indent="0" marL="0">
              <a:buNone/>
            </a:pPr>
            <a:r>
              <a:rPr lang="en-US" sz="1100" dirty="0">
                <a:solidFill>
                  <a:srgbClr val="B0C4D8"/>
                </a:solidFill>
              </a:rPr>
              <a:t>FastAPI &amp; Streamlit enable rapid end-to-end development</a:t>
            </a:r>
            <a:endParaRPr lang="en-US" sz="1100" dirty="0"/>
          </a:p>
        </p:txBody>
      </p:sp>
      <p:sp>
        <p:nvSpPr>
          <p:cNvPr id="19" name="Text 17"/>
          <p:cNvSpPr/>
          <p:nvPr/>
        </p:nvSpPr>
        <p:spPr>
          <a:xfrm>
            <a:off x="4892040" y="3566160"/>
            <a:ext cx="3703320" cy="228600"/>
          </a:xfrm>
          <a:prstGeom prst="rect">
            <a:avLst/>
          </a:prstGeom>
          <a:noFill/>
          <a:ln/>
        </p:spPr>
        <p:txBody>
          <a:bodyPr wrap="square" rtlCol="0" anchor="ctr"/>
          <a:lstStyle/>
          <a:p>
            <a:pPr indent="0" marL="0">
              <a:buNone/>
            </a:pPr>
            <a:r>
              <a:rPr lang="en-US" sz="1200" b="1" dirty="0">
                <a:solidFill>
                  <a:srgbClr val="F47B20"/>
                </a:solidFill>
              </a:rPr>
              <a:t>Technical viability</a:t>
            </a:r>
            <a:endParaRPr lang="en-US" sz="1200" dirty="0"/>
          </a:p>
        </p:txBody>
      </p:sp>
      <p:sp>
        <p:nvSpPr>
          <p:cNvPr id="20" name="Text 18"/>
          <p:cNvSpPr/>
          <p:nvPr/>
        </p:nvSpPr>
        <p:spPr>
          <a:xfrm>
            <a:off x="4892040" y="3794760"/>
            <a:ext cx="3703320" cy="411480"/>
          </a:xfrm>
          <a:prstGeom prst="rect">
            <a:avLst/>
          </a:prstGeom>
          <a:noFill/>
          <a:ln/>
        </p:spPr>
        <p:txBody>
          <a:bodyPr wrap="square" rtlCol="0" anchor="ctr"/>
          <a:lstStyle/>
          <a:p>
            <a:pPr indent="0" marL="0">
              <a:buNone/>
            </a:pPr>
            <a:r>
              <a:rPr lang="en-US" sz="1100" dirty="0">
                <a:solidFill>
                  <a:srgbClr val="B0C4D8"/>
                </a:solidFill>
              </a:rPr>
              <a:t>Vector databases (Qdrant) handle semantic search at scale</a:t>
            </a:r>
            <a:endParaRPr lang="en-US" sz="1100" dirty="0"/>
          </a:p>
        </p:txBody>
      </p:sp>
      <p:sp>
        <p:nvSpPr>
          <p:cNvPr id="21" name="Shape 19"/>
          <p:cNvSpPr/>
          <p:nvPr/>
        </p:nvSpPr>
        <p:spPr>
          <a:xfrm>
            <a:off x="0" y="4983480"/>
            <a:ext cx="9144000" cy="164592"/>
          </a:xfrm>
          <a:prstGeom prst="rect">
            <a:avLst/>
          </a:prstGeom>
          <a:solidFill>
            <a:srgbClr val="1B263B"/>
          </a:solidFill>
          <a:ln w="12700">
            <a:solidFill>
              <a:srgbClr val="1B263B"/>
            </a:solidFill>
            <a:prstDash val="solid"/>
          </a:ln>
        </p:spPr>
      </p:sp>
      <p:sp>
        <p:nvSpPr>
          <p:cNvPr id="22" name="Text 20"/>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AI File Management System  |  Ben Sebastian Joseph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E8"/>
          </a:solidFill>
          <a:ln w="12700">
            <a:solidFill>
              <a:srgbClr val="00A8E8"/>
            </a:solidFill>
            <a:prstDash val="solid"/>
          </a:ln>
        </p:spPr>
      </p:sp>
      <p:sp>
        <p:nvSpPr>
          <p:cNvPr id="3" name="Shape 1"/>
          <p:cNvSpPr/>
          <p:nvPr/>
        </p:nvSpPr>
        <p:spPr>
          <a:xfrm>
            <a:off x="457200" y="182880"/>
            <a:ext cx="1097280" cy="274320"/>
          </a:xfrm>
          <a:prstGeom prst="rect">
            <a:avLst/>
          </a:prstGeom>
          <a:solidFill>
            <a:srgbClr val="F47B20"/>
          </a:solidFill>
          <a:ln w="12700">
            <a:solidFill>
              <a:srgbClr val="F47B20"/>
            </a:solidFill>
            <a:prstDash val="solid"/>
          </a:ln>
        </p:spPr>
      </p:sp>
      <p:sp>
        <p:nvSpPr>
          <p:cNvPr id="4" name="Text 2"/>
          <p:cNvSpPr/>
          <p:nvPr/>
        </p:nvSpPr>
        <p:spPr>
          <a:xfrm>
            <a:off x="457200" y="18288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rPr>
              <a:t>PHASE 0</a:t>
            </a:r>
            <a:endParaRPr lang="en-US" sz="900" dirty="0"/>
          </a:p>
        </p:txBody>
      </p:sp>
      <p:sp>
        <p:nvSpPr>
          <p:cNvPr id="5" name="Text 3"/>
          <p:cNvSpPr/>
          <p:nvPr/>
        </p:nvSpPr>
        <p:spPr>
          <a:xfrm>
            <a:off x="1691640" y="164592"/>
            <a:ext cx="7132320" cy="365760"/>
          </a:xfrm>
          <a:prstGeom prst="rect">
            <a:avLst/>
          </a:prstGeom>
          <a:noFill/>
          <a:ln/>
        </p:spPr>
        <p:txBody>
          <a:bodyPr wrap="square" rtlCol="0" anchor="ctr"/>
          <a:lstStyle/>
          <a:p>
            <a:pPr indent="0" marL="0">
              <a:buNone/>
            </a:pPr>
            <a:r>
              <a:rPr lang="en-US" sz="2200" b="1" dirty="0">
                <a:solidFill>
                  <a:srgbClr val="FFFFFF"/>
                </a:solidFill>
              </a:rPr>
              <a:t>Technology Stack</a:t>
            </a:r>
            <a:endParaRPr lang="en-US" sz="2200" dirty="0"/>
          </a:p>
        </p:txBody>
      </p:sp>
      <p:sp>
        <p:nvSpPr>
          <p:cNvPr id="6" name="Shape 4"/>
          <p:cNvSpPr/>
          <p:nvPr/>
        </p:nvSpPr>
        <p:spPr>
          <a:xfrm>
            <a:off x="274320" y="685800"/>
            <a:ext cx="2697480" cy="1938528"/>
          </a:xfrm>
          <a:prstGeom prst="rect">
            <a:avLst/>
          </a:prstGeom>
          <a:solidFill>
            <a:srgbClr val="162536"/>
          </a:solidFill>
          <a:ln w="19050">
            <a:solidFill>
              <a:srgbClr val="00A8E8"/>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274320" y="685800"/>
            <a:ext cx="2697480" cy="384048"/>
          </a:xfrm>
          <a:prstGeom prst="rect">
            <a:avLst/>
          </a:prstGeom>
          <a:solidFill>
            <a:srgbClr val="00A8E8">
              <a:alpha val="80000"/>
            </a:srgbClr>
          </a:solidFill>
          <a:ln w="12700">
            <a:solidFill>
              <a:srgbClr val="00A8E8"/>
            </a:solidFill>
            <a:prstDash val="solid"/>
          </a:ln>
        </p:spPr>
      </p:sp>
      <p:sp>
        <p:nvSpPr>
          <p:cNvPr id="8" name="Text 6"/>
          <p:cNvSpPr/>
          <p:nvPr/>
        </p:nvSpPr>
        <p:spPr>
          <a:xfrm>
            <a:off x="365760" y="685800"/>
            <a:ext cx="2514600" cy="384048"/>
          </a:xfrm>
          <a:prstGeom prst="rect">
            <a:avLst/>
          </a:prstGeom>
          <a:noFill/>
          <a:ln/>
        </p:spPr>
        <p:txBody>
          <a:bodyPr wrap="square" rtlCol="0" anchor="ctr"/>
          <a:lstStyle/>
          <a:p>
            <a:pPr indent="0" marL="0">
              <a:buNone/>
            </a:pPr>
            <a:r>
              <a:rPr lang="en-US" sz="1100" b="1" dirty="0">
                <a:solidFill>
                  <a:srgbClr val="FFFFFF"/>
                </a:solidFill>
              </a:rPr>
              <a:t>🖥  Frontend</a:t>
            </a:r>
            <a:endParaRPr lang="en-US" sz="1100" dirty="0"/>
          </a:p>
        </p:txBody>
      </p:sp>
      <p:sp>
        <p:nvSpPr>
          <p:cNvPr id="9" name="Text 7"/>
          <p:cNvSpPr/>
          <p:nvPr/>
        </p:nvSpPr>
        <p:spPr>
          <a:xfrm>
            <a:off x="365760" y="1143000"/>
            <a:ext cx="2514600" cy="640080"/>
          </a:xfrm>
          <a:prstGeom prst="rect">
            <a:avLst/>
          </a:prstGeom>
          <a:noFill/>
          <a:ln/>
        </p:spPr>
        <p:txBody>
          <a:bodyPr wrap="square" rtlCol="0" anchor="ctr"/>
          <a:lstStyle/>
          <a:p>
            <a:pPr indent="0" marL="0">
              <a:buNone/>
            </a:pPr>
            <a:r>
              <a:rPr lang="en-US" sz="1300" b="1" dirty="0">
                <a:solidFill>
                  <a:srgbClr val="FFFFFF"/>
                </a:solidFill>
              </a:rPr>
              <a:t>Streamlit</a:t>
            </a:r>
            <a:endParaRPr lang="en-US" sz="1300" dirty="0"/>
          </a:p>
        </p:txBody>
      </p:sp>
      <p:sp>
        <p:nvSpPr>
          <p:cNvPr id="10" name="Text 8"/>
          <p:cNvSpPr/>
          <p:nvPr/>
        </p:nvSpPr>
        <p:spPr>
          <a:xfrm>
            <a:off x="365760" y="1828800"/>
            <a:ext cx="2514600" cy="548640"/>
          </a:xfrm>
          <a:prstGeom prst="rect">
            <a:avLst/>
          </a:prstGeom>
          <a:noFill/>
          <a:ln/>
        </p:spPr>
        <p:txBody>
          <a:bodyPr wrap="square" rtlCol="0" anchor="ctr"/>
          <a:lstStyle/>
          <a:p>
            <a:pPr indent="0" marL="0">
              <a:buNone/>
            </a:pPr>
            <a:r>
              <a:rPr lang="en-US" sz="1000" i="1" dirty="0">
                <a:solidFill>
                  <a:srgbClr val="B0C4D8"/>
                </a:solidFill>
              </a:rPr>
              <a:t>Interactive, responsive UI</a:t>
            </a:r>
            <a:endParaRPr lang="en-US" sz="1000" dirty="0"/>
          </a:p>
        </p:txBody>
      </p:sp>
      <p:sp>
        <p:nvSpPr>
          <p:cNvPr id="11" name="Shape 9"/>
          <p:cNvSpPr/>
          <p:nvPr/>
        </p:nvSpPr>
        <p:spPr>
          <a:xfrm>
            <a:off x="3246120" y="685800"/>
            <a:ext cx="2697480" cy="1938528"/>
          </a:xfrm>
          <a:prstGeom prst="rect">
            <a:avLst/>
          </a:prstGeom>
          <a:solidFill>
            <a:srgbClr val="162536"/>
          </a:solidFill>
          <a:ln w="19050">
            <a:solidFill>
              <a:srgbClr val="F47B20"/>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3246120" y="685800"/>
            <a:ext cx="2697480" cy="384048"/>
          </a:xfrm>
          <a:prstGeom prst="rect">
            <a:avLst/>
          </a:prstGeom>
          <a:solidFill>
            <a:srgbClr val="F47B20">
              <a:alpha val="80000"/>
            </a:srgbClr>
          </a:solidFill>
          <a:ln w="12700">
            <a:solidFill>
              <a:srgbClr val="F47B20"/>
            </a:solidFill>
            <a:prstDash val="solid"/>
          </a:ln>
        </p:spPr>
      </p:sp>
      <p:sp>
        <p:nvSpPr>
          <p:cNvPr id="13" name="Text 11"/>
          <p:cNvSpPr/>
          <p:nvPr/>
        </p:nvSpPr>
        <p:spPr>
          <a:xfrm>
            <a:off x="3337560" y="685800"/>
            <a:ext cx="2514600" cy="384048"/>
          </a:xfrm>
          <a:prstGeom prst="rect">
            <a:avLst/>
          </a:prstGeom>
          <a:noFill/>
          <a:ln/>
        </p:spPr>
        <p:txBody>
          <a:bodyPr wrap="square" rtlCol="0" anchor="ctr"/>
          <a:lstStyle/>
          <a:p>
            <a:pPr indent="0" marL="0">
              <a:buNone/>
            </a:pPr>
            <a:r>
              <a:rPr lang="en-US" sz="1100" b="1" dirty="0">
                <a:solidFill>
                  <a:srgbClr val="FFFFFF"/>
                </a:solidFill>
              </a:rPr>
              <a:t>⚙  Backend</a:t>
            </a:r>
            <a:endParaRPr lang="en-US" sz="1100" dirty="0"/>
          </a:p>
        </p:txBody>
      </p:sp>
      <p:sp>
        <p:nvSpPr>
          <p:cNvPr id="14" name="Text 12"/>
          <p:cNvSpPr/>
          <p:nvPr/>
        </p:nvSpPr>
        <p:spPr>
          <a:xfrm>
            <a:off x="3337560" y="1143000"/>
            <a:ext cx="2514600" cy="640080"/>
          </a:xfrm>
          <a:prstGeom prst="rect">
            <a:avLst/>
          </a:prstGeom>
          <a:noFill/>
          <a:ln/>
        </p:spPr>
        <p:txBody>
          <a:bodyPr wrap="square" rtlCol="0" anchor="ctr"/>
          <a:lstStyle/>
          <a:p>
            <a:pPr indent="0" marL="0">
              <a:buNone/>
            </a:pPr>
            <a:r>
              <a:rPr lang="en-US" sz="1300" b="1" dirty="0">
                <a:solidFill>
                  <a:srgbClr val="FFFFFF"/>
                </a:solidFill>
              </a:rPr>
              <a:t>FastAPI + Python</a:t>
            </a:r>
            <a:endParaRPr lang="en-US" sz="1300" dirty="0"/>
          </a:p>
        </p:txBody>
      </p:sp>
      <p:sp>
        <p:nvSpPr>
          <p:cNvPr id="15" name="Text 13"/>
          <p:cNvSpPr/>
          <p:nvPr/>
        </p:nvSpPr>
        <p:spPr>
          <a:xfrm>
            <a:off x="3337560" y="1828800"/>
            <a:ext cx="2514600" cy="548640"/>
          </a:xfrm>
          <a:prstGeom prst="rect">
            <a:avLst/>
          </a:prstGeom>
          <a:noFill/>
          <a:ln/>
        </p:spPr>
        <p:txBody>
          <a:bodyPr wrap="square" rtlCol="0" anchor="ctr"/>
          <a:lstStyle/>
          <a:p>
            <a:pPr indent="0" marL="0">
              <a:buNone/>
            </a:pPr>
            <a:r>
              <a:rPr lang="en-US" sz="1000" i="1" dirty="0">
                <a:solidFill>
                  <a:srgbClr val="B0C4D8"/>
                </a:solidFill>
              </a:rPr>
              <a:t>High-performance API server</a:t>
            </a:r>
            <a:endParaRPr lang="en-US" sz="1000" dirty="0"/>
          </a:p>
        </p:txBody>
      </p:sp>
      <p:sp>
        <p:nvSpPr>
          <p:cNvPr id="16" name="Shape 14"/>
          <p:cNvSpPr/>
          <p:nvPr/>
        </p:nvSpPr>
        <p:spPr>
          <a:xfrm>
            <a:off x="6217920" y="685800"/>
            <a:ext cx="2697480" cy="1938528"/>
          </a:xfrm>
          <a:prstGeom prst="rect">
            <a:avLst/>
          </a:prstGeom>
          <a:solidFill>
            <a:srgbClr val="162536"/>
          </a:solidFill>
          <a:ln w="19050">
            <a:solidFill>
              <a:srgbClr val="27AE60"/>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6217920" y="685800"/>
            <a:ext cx="2697480" cy="384048"/>
          </a:xfrm>
          <a:prstGeom prst="rect">
            <a:avLst/>
          </a:prstGeom>
          <a:solidFill>
            <a:srgbClr val="27AE60">
              <a:alpha val="80000"/>
            </a:srgbClr>
          </a:solidFill>
          <a:ln w="12700">
            <a:solidFill>
              <a:srgbClr val="27AE60"/>
            </a:solidFill>
            <a:prstDash val="solid"/>
          </a:ln>
        </p:spPr>
      </p:sp>
      <p:sp>
        <p:nvSpPr>
          <p:cNvPr id="18" name="Text 16"/>
          <p:cNvSpPr/>
          <p:nvPr/>
        </p:nvSpPr>
        <p:spPr>
          <a:xfrm>
            <a:off x="6309360" y="685800"/>
            <a:ext cx="2514600" cy="384048"/>
          </a:xfrm>
          <a:prstGeom prst="rect">
            <a:avLst/>
          </a:prstGeom>
          <a:noFill/>
          <a:ln/>
        </p:spPr>
        <p:txBody>
          <a:bodyPr wrap="square" rtlCol="0" anchor="ctr"/>
          <a:lstStyle/>
          <a:p>
            <a:pPr indent="0" marL="0">
              <a:buNone/>
            </a:pPr>
            <a:r>
              <a:rPr lang="en-US" sz="1100" b="1" dirty="0">
                <a:solidFill>
                  <a:srgbClr val="FFFFFF"/>
                </a:solidFill>
              </a:rPr>
              <a:t>🗄  Database</a:t>
            </a:r>
            <a:endParaRPr lang="en-US" sz="1100" dirty="0"/>
          </a:p>
        </p:txBody>
      </p:sp>
      <p:sp>
        <p:nvSpPr>
          <p:cNvPr id="19" name="Text 17"/>
          <p:cNvSpPr/>
          <p:nvPr/>
        </p:nvSpPr>
        <p:spPr>
          <a:xfrm>
            <a:off x="6309360" y="1143000"/>
            <a:ext cx="2514600" cy="640080"/>
          </a:xfrm>
          <a:prstGeom prst="rect">
            <a:avLst/>
          </a:prstGeom>
          <a:noFill/>
          <a:ln/>
        </p:spPr>
        <p:txBody>
          <a:bodyPr wrap="square" rtlCol="0" anchor="ctr"/>
          <a:lstStyle/>
          <a:p>
            <a:pPr indent="0" marL="0">
              <a:buNone/>
            </a:pPr>
            <a:r>
              <a:rPr lang="en-US" sz="1300" b="1" dirty="0">
                <a:solidFill>
                  <a:srgbClr val="FFFFFF"/>
                </a:solidFill>
              </a:rPr>
              <a:t>SQLite + Qdrant</a:t>
            </a:r>
            <a:endParaRPr lang="en-US" sz="1300" dirty="0"/>
          </a:p>
        </p:txBody>
      </p:sp>
      <p:sp>
        <p:nvSpPr>
          <p:cNvPr id="20" name="Text 18"/>
          <p:cNvSpPr/>
          <p:nvPr/>
        </p:nvSpPr>
        <p:spPr>
          <a:xfrm>
            <a:off x="6309360" y="1828800"/>
            <a:ext cx="2514600" cy="548640"/>
          </a:xfrm>
          <a:prstGeom prst="rect">
            <a:avLst/>
          </a:prstGeom>
          <a:noFill/>
          <a:ln/>
        </p:spPr>
        <p:txBody>
          <a:bodyPr wrap="square" rtlCol="0" anchor="ctr"/>
          <a:lstStyle/>
          <a:p>
            <a:pPr indent="0" marL="0">
              <a:buNone/>
            </a:pPr>
            <a:r>
              <a:rPr lang="en-US" sz="1000" i="1" dirty="0">
                <a:solidFill>
                  <a:srgbClr val="B0C4D8"/>
                </a:solidFill>
              </a:rPr>
              <a:t>Relational metadata &amp; vector DB</a:t>
            </a:r>
            <a:endParaRPr lang="en-US" sz="1000" dirty="0"/>
          </a:p>
        </p:txBody>
      </p:sp>
      <p:sp>
        <p:nvSpPr>
          <p:cNvPr id="21" name="Shape 19"/>
          <p:cNvSpPr/>
          <p:nvPr/>
        </p:nvSpPr>
        <p:spPr>
          <a:xfrm>
            <a:off x="274320" y="2852928"/>
            <a:ext cx="2697480" cy="1938528"/>
          </a:xfrm>
          <a:prstGeom prst="rect">
            <a:avLst/>
          </a:prstGeom>
          <a:solidFill>
            <a:srgbClr val="162536"/>
          </a:solidFill>
          <a:ln w="19050">
            <a:solidFill>
              <a:srgbClr val="9B59B6"/>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274320" y="2852928"/>
            <a:ext cx="2697480" cy="384048"/>
          </a:xfrm>
          <a:prstGeom prst="rect">
            <a:avLst/>
          </a:prstGeom>
          <a:solidFill>
            <a:srgbClr val="9B59B6">
              <a:alpha val="80000"/>
            </a:srgbClr>
          </a:solidFill>
          <a:ln w="12700">
            <a:solidFill>
              <a:srgbClr val="9B59B6"/>
            </a:solidFill>
            <a:prstDash val="solid"/>
          </a:ln>
        </p:spPr>
      </p:sp>
      <p:sp>
        <p:nvSpPr>
          <p:cNvPr id="23" name="Text 21"/>
          <p:cNvSpPr/>
          <p:nvPr/>
        </p:nvSpPr>
        <p:spPr>
          <a:xfrm>
            <a:off x="365760" y="2852928"/>
            <a:ext cx="2514600" cy="384048"/>
          </a:xfrm>
          <a:prstGeom prst="rect">
            <a:avLst/>
          </a:prstGeom>
          <a:noFill/>
          <a:ln/>
        </p:spPr>
        <p:txBody>
          <a:bodyPr wrap="square" rtlCol="0" anchor="ctr"/>
          <a:lstStyle/>
          <a:p>
            <a:pPr indent="0" marL="0">
              <a:buNone/>
            </a:pPr>
            <a:r>
              <a:rPr lang="en-US" sz="1100" b="1" dirty="0">
                <a:solidFill>
                  <a:srgbClr val="FFFFFF"/>
                </a:solidFill>
              </a:rPr>
              <a:t>🔍  OCR Engine</a:t>
            </a:r>
            <a:endParaRPr lang="en-US" sz="1100" dirty="0"/>
          </a:p>
        </p:txBody>
      </p:sp>
      <p:sp>
        <p:nvSpPr>
          <p:cNvPr id="24" name="Text 22"/>
          <p:cNvSpPr/>
          <p:nvPr/>
        </p:nvSpPr>
        <p:spPr>
          <a:xfrm>
            <a:off x="365760" y="3310128"/>
            <a:ext cx="2514600" cy="640080"/>
          </a:xfrm>
          <a:prstGeom prst="rect">
            <a:avLst/>
          </a:prstGeom>
          <a:noFill/>
          <a:ln/>
        </p:spPr>
        <p:txBody>
          <a:bodyPr wrap="square" rtlCol="0" anchor="ctr"/>
          <a:lstStyle/>
          <a:p>
            <a:pPr indent="0" marL="0">
              <a:buNone/>
            </a:pPr>
            <a:r>
              <a:rPr lang="en-US" sz="1300" b="1" dirty="0">
                <a:solidFill>
                  <a:srgbClr val="FFFFFF"/>
                </a:solidFill>
              </a:rPr>
              <a:t>Tesseract</a:t>
            </a:r>
            <a:endParaRPr lang="en-US" sz="1300" dirty="0"/>
          </a:p>
        </p:txBody>
      </p:sp>
      <p:sp>
        <p:nvSpPr>
          <p:cNvPr id="25" name="Text 23"/>
          <p:cNvSpPr/>
          <p:nvPr/>
        </p:nvSpPr>
        <p:spPr>
          <a:xfrm>
            <a:off x="365760" y="3995928"/>
            <a:ext cx="2514600" cy="548640"/>
          </a:xfrm>
          <a:prstGeom prst="rect">
            <a:avLst/>
          </a:prstGeom>
          <a:noFill/>
          <a:ln/>
        </p:spPr>
        <p:txBody>
          <a:bodyPr wrap="square" rtlCol="0" anchor="ctr"/>
          <a:lstStyle/>
          <a:p>
            <a:pPr indent="0" marL="0">
              <a:buNone/>
            </a:pPr>
            <a:r>
              <a:rPr lang="en-US" sz="1000" i="1" dirty="0">
                <a:solidFill>
                  <a:srgbClr val="B0C4D8"/>
                </a:solidFill>
              </a:rPr>
              <a:t>Layout-aware text extraction</a:t>
            </a:r>
            <a:endParaRPr lang="en-US" sz="1000" dirty="0"/>
          </a:p>
        </p:txBody>
      </p:sp>
      <p:sp>
        <p:nvSpPr>
          <p:cNvPr id="26" name="Shape 24"/>
          <p:cNvSpPr/>
          <p:nvPr/>
        </p:nvSpPr>
        <p:spPr>
          <a:xfrm>
            <a:off x="3246120" y="2852928"/>
            <a:ext cx="2697480" cy="1938528"/>
          </a:xfrm>
          <a:prstGeom prst="rect">
            <a:avLst/>
          </a:prstGeom>
          <a:solidFill>
            <a:srgbClr val="162536"/>
          </a:solidFill>
          <a:ln w="19050">
            <a:solidFill>
              <a:srgbClr val="00A8E8"/>
            </a:solidFill>
            <a:prstDash val="solid"/>
          </a:ln>
          <a:effectLst>
            <a:outerShdw sx="100000" sy="100000" kx="0" ky="0" algn="bl" rotWithShape="0" blurRad="101600" dist="38100" dir="8100000">
              <a:srgbClr val="000000">
                <a:alpha val="25000"/>
              </a:srgbClr>
            </a:outerShdw>
          </a:effectLst>
        </p:spPr>
      </p:sp>
      <p:sp>
        <p:nvSpPr>
          <p:cNvPr id="27" name="Shape 25"/>
          <p:cNvSpPr/>
          <p:nvPr/>
        </p:nvSpPr>
        <p:spPr>
          <a:xfrm>
            <a:off x="3246120" y="2852928"/>
            <a:ext cx="2697480" cy="384048"/>
          </a:xfrm>
          <a:prstGeom prst="rect">
            <a:avLst/>
          </a:prstGeom>
          <a:solidFill>
            <a:srgbClr val="00A8E8">
              <a:alpha val="80000"/>
            </a:srgbClr>
          </a:solidFill>
          <a:ln w="12700">
            <a:solidFill>
              <a:srgbClr val="00A8E8"/>
            </a:solidFill>
            <a:prstDash val="solid"/>
          </a:ln>
        </p:spPr>
      </p:sp>
      <p:sp>
        <p:nvSpPr>
          <p:cNvPr id="28" name="Text 26"/>
          <p:cNvSpPr/>
          <p:nvPr/>
        </p:nvSpPr>
        <p:spPr>
          <a:xfrm>
            <a:off x="3337560" y="2852928"/>
            <a:ext cx="2514600" cy="384048"/>
          </a:xfrm>
          <a:prstGeom prst="rect">
            <a:avLst/>
          </a:prstGeom>
          <a:noFill/>
          <a:ln/>
        </p:spPr>
        <p:txBody>
          <a:bodyPr wrap="square" rtlCol="0" anchor="ctr"/>
          <a:lstStyle/>
          <a:p>
            <a:pPr indent="0" marL="0">
              <a:buNone/>
            </a:pPr>
            <a:r>
              <a:rPr lang="en-US" sz="1100" b="1" dirty="0">
                <a:solidFill>
                  <a:srgbClr val="FFFFFF"/>
                </a:solidFill>
              </a:rPr>
              <a:t>🧠  AI / ML Models</a:t>
            </a:r>
            <a:endParaRPr lang="en-US" sz="1100" dirty="0"/>
          </a:p>
        </p:txBody>
      </p:sp>
      <p:sp>
        <p:nvSpPr>
          <p:cNvPr id="29" name="Text 27"/>
          <p:cNvSpPr/>
          <p:nvPr/>
        </p:nvSpPr>
        <p:spPr>
          <a:xfrm>
            <a:off x="3337560" y="3310128"/>
            <a:ext cx="2514600" cy="640080"/>
          </a:xfrm>
          <a:prstGeom prst="rect">
            <a:avLst/>
          </a:prstGeom>
          <a:noFill/>
          <a:ln/>
        </p:spPr>
        <p:txBody>
          <a:bodyPr wrap="square" rtlCol="0" anchor="ctr"/>
          <a:lstStyle/>
          <a:p>
            <a:pPr indent="0" marL="0">
              <a:buNone/>
            </a:pPr>
            <a:r>
              <a:rPr lang="en-US" sz="1300" b="1" dirty="0">
                <a:solidFill>
                  <a:srgbClr val="FFFFFF"/>
                </a:solidFill>
              </a:rPr>
              <a:t>Sentence-Transformers</a:t>
            </a:r>
            <a:endParaRPr lang="en-US" sz="1300" dirty="0"/>
          </a:p>
          <a:p>
            <a:pPr indent="0" marL="0">
              <a:buNone/>
            </a:pPr>
            <a:r>
              <a:rPr lang="en-US" sz="1300" b="1" dirty="0">
                <a:solidFill>
                  <a:srgbClr val="FFFFFF"/>
                </a:solidFill>
              </a:rPr>
              <a:t>Pegasus-XSUM</a:t>
            </a:r>
            <a:endParaRPr lang="en-US" sz="1300" dirty="0"/>
          </a:p>
        </p:txBody>
      </p:sp>
      <p:sp>
        <p:nvSpPr>
          <p:cNvPr id="30" name="Text 28"/>
          <p:cNvSpPr/>
          <p:nvPr/>
        </p:nvSpPr>
        <p:spPr>
          <a:xfrm>
            <a:off x="3337560" y="3995928"/>
            <a:ext cx="2514600" cy="548640"/>
          </a:xfrm>
          <a:prstGeom prst="rect">
            <a:avLst/>
          </a:prstGeom>
          <a:noFill/>
          <a:ln/>
        </p:spPr>
        <p:txBody>
          <a:bodyPr wrap="square" rtlCol="0" anchor="ctr"/>
          <a:lstStyle/>
          <a:p>
            <a:pPr indent="0" marL="0">
              <a:buNone/>
            </a:pPr>
            <a:r>
              <a:rPr lang="en-US" sz="1000" i="1" dirty="0">
                <a:solidFill>
                  <a:srgbClr val="B0C4D8"/>
                </a:solidFill>
              </a:rPr>
              <a:t>Embeddings &amp; summarization</a:t>
            </a:r>
            <a:endParaRPr lang="en-US" sz="1000" dirty="0"/>
          </a:p>
        </p:txBody>
      </p:sp>
      <p:sp>
        <p:nvSpPr>
          <p:cNvPr id="31" name="Shape 29"/>
          <p:cNvSpPr/>
          <p:nvPr/>
        </p:nvSpPr>
        <p:spPr>
          <a:xfrm>
            <a:off x="6217920" y="2852928"/>
            <a:ext cx="2697480" cy="1938528"/>
          </a:xfrm>
          <a:prstGeom prst="rect">
            <a:avLst/>
          </a:prstGeom>
          <a:solidFill>
            <a:srgbClr val="162536"/>
          </a:solidFill>
          <a:ln w="19050">
            <a:solidFill>
              <a:srgbClr val="F47B20"/>
            </a:solidFill>
            <a:prstDash val="solid"/>
          </a:ln>
          <a:effectLst>
            <a:outerShdw sx="100000" sy="100000" kx="0" ky="0" algn="bl" rotWithShape="0" blurRad="101600" dist="38100" dir="8100000">
              <a:srgbClr val="000000">
                <a:alpha val="25000"/>
              </a:srgbClr>
            </a:outerShdw>
          </a:effectLst>
        </p:spPr>
      </p:sp>
      <p:sp>
        <p:nvSpPr>
          <p:cNvPr id="32" name="Shape 30"/>
          <p:cNvSpPr/>
          <p:nvPr/>
        </p:nvSpPr>
        <p:spPr>
          <a:xfrm>
            <a:off x="6217920" y="2852928"/>
            <a:ext cx="2697480" cy="384048"/>
          </a:xfrm>
          <a:prstGeom prst="rect">
            <a:avLst/>
          </a:prstGeom>
          <a:solidFill>
            <a:srgbClr val="F47B20">
              <a:alpha val="80000"/>
            </a:srgbClr>
          </a:solidFill>
          <a:ln w="12700">
            <a:solidFill>
              <a:srgbClr val="F47B20"/>
            </a:solidFill>
            <a:prstDash val="solid"/>
          </a:ln>
        </p:spPr>
      </p:sp>
      <p:sp>
        <p:nvSpPr>
          <p:cNvPr id="33" name="Text 31"/>
          <p:cNvSpPr/>
          <p:nvPr/>
        </p:nvSpPr>
        <p:spPr>
          <a:xfrm>
            <a:off x="6309360" y="2852928"/>
            <a:ext cx="2514600" cy="384048"/>
          </a:xfrm>
          <a:prstGeom prst="rect">
            <a:avLst/>
          </a:prstGeom>
          <a:noFill/>
          <a:ln/>
        </p:spPr>
        <p:txBody>
          <a:bodyPr wrap="square" rtlCol="0" anchor="ctr"/>
          <a:lstStyle/>
          <a:p>
            <a:pPr indent="0" marL="0">
              <a:buNone/>
            </a:pPr>
            <a:r>
              <a:rPr lang="en-US" sz="1100" b="1" dirty="0">
                <a:solidFill>
                  <a:srgbClr val="FFFFFF"/>
                </a:solidFill>
              </a:rPr>
              <a:t>💬  LLM Chat</a:t>
            </a:r>
            <a:endParaRPr lang="en-US" sz="1100" dirty="0"/>
          </a:p>
        </p:txBody>
      </p:sp>
      <p:sp>
        <p:nvSpPr>
          <p:cNvPr id="34" name="Text 32"/>
          <p:cNvSpPr/>
          <p:nvPr/>
        </p:nvSpPr>
        <p:spPr>
          <a:xfrm>
            <a:off x="6309360" y="3310128"/>
            <a:ext cx="2514600" cy="640080"/>
          </a:xfrm>
          <a:prstGeom prst="rect">
            <a:avLst/>
          </a:prstGeom>
          <a:noFill/>
          <a:ln/>
        </p:spPr>
        <p:txBody>
          <a:bodyPr wrap="square" rtlCol="0" anchor="ctr"/>
          <a:lstStyle/>
          <a:p>
            <a:pPr indent="0" marL="0">
              <a:buNone/>
            </a:pPr>
            <a:r>
              <a:rPr lang="en-US" sz="1300" b="1" dirty="0">
                <a:solidFill>
                  <a:srgbClr val="FFFFFF"/>
                </a:solidFill>
              </a:rPr>
              <a:t>Groq · LLaMA 3.3-70B</a:t>
            </a:r>
            <a:endParaRPr lang="en-US" sz="1300" dirty="0"/>
          </a:p>
        </p:txBody>
      </p:sp>
      <p:sp>
        <p:nvSpPr>
          <p:cNvPr id="35" name="Text 33"/>
          <p:cNvSpPr/>
          <p:nvPr/>
        </p:nvSpPr>
        <p:spPr>
          <a:xfrm>
            <a:off x="6309360" y="3995928"/>
            <a:ext cx="2514600" cy="548640"/>
          </a:xfrm>
          <a:prstGeom prst="rect">
            <a:avLst/>
          </a:prstGeom>
          <a:noFill/>
          <a:ln/>
        </p:spPr>
        <p:txBody>
          <a:bodyPr wrap="square" rtlCol="0" anchor="ctr"/>
          <a:lstStyle/>
          <a:p>
            <a:pPr indent="0" marL="0">
              <a:buNone/>
            </a:pPr>
            <a:r>
              <a:rPr lang="en-US" sz="1000" i="1" dirty="0">
                <a:solidFill>
                  <a:srgbClr val="B0C4D8"/>
                </a:solidFill>
              </a:rPr>
              <a:t>Blazing-fast AI inference</a:t>
            </a:r>
            <a:endParaRPr lang="en-US" sz="1000" dirty="0"/>
          </a:p>
        </p:txBody>
      </p:sp>
      <p:sp>
        <p:nvSpPr>
          <p:cNvPr id="36" name="Shape 34"/>
          <p:cNvSpPr/>
          <p:nvPr/>
        </p:nvSpPr>
        <p:spPr>
          <a:xfrm>
            <a:off x="0" y="4983480"/>
            <a:ext cx="9144000" cy="164592"/>
          </a:xfrm>
          <a:prstGeom prst="rect">
            <a:avLst/>
          </a:prstGeom>
          <a:solidFill>
            <a:srgbClr val="1B263B"/>
          </a:solidFill>
          <a:ln w="12700">
            <a:solidFill>
              <a:srgbClr val="1B263B"/>
            </a:solidFill>
            <a:prstDash val="solid"/>
          </a:ln>
        </p:spPr>
      </p:sp>
      <p:sp>
        <p:nvSpPr>
          <p:cNvPr id="37" name="Text 35"/>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AI File Management System  |  Ben Sebastian Joseph</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E8"/>
          </a:solidFill>
          <a:ln w="12700">
            <a:solidFill>
              <a:srgbClr val="00A8E8"/>
            </a:solidFill>
            <a:prstDash val="solid"/>
          </a:ln>
        </p:spPr>
      </p:sp>
      <p:sp>
        <p:nvSpPr>
          <p:cNvPr id="3" name="Shape 1"/>
          <p:cNvSpPr/>
          <p:nvPr/>
        </p:nvSpPr>
        <p:spPr>
          <a:xfrm>
            <a:off x="457200" y="182880"/>
            <a:ext cx="1097280" cy="274320"/>
          </a:xfrm>
          <a:prstGeom prst="rect">
            <a:avLst/>
          </a:prstGeom>
          <a:solidFill>
            <a:srgbClr val="F47B20"/>
          </a:solidFill>
          <a:ln w="12700">
            <a:solidFill>
              <a:srgbClr val="F47B20"/>
            </a:solidFill>
            <a:prstDash val="solid"/>
          </a:ln>
        </p:spPr>
      </p:sp>
      <p:sp>
        <p:nvSpPr>
          <p:cNvPr id="4" name="Text 2"/>
          <p:cNvSpPr/>
          <p:nvPr/>
        </p:nvSpPr>
        <p:spPr>
          <a:xfrm>
            <a:off x="457200" y="18288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rPr>
              <a:t>PHASE 0</a:t>
            </a:r>
            <a:endParaRPr lang="en-US" sz="900" dirty="0"/>
          </a:p>
        </p:txBody>
      </p:sp>
      <p:sp>
        <p:nvSpPr>
          <p:cNvPr id="5" name="Text 3"/>
          <p:cNvSpPr/>
          <p:nvPr/>
        </p:nvSpPr>
        <p:spPr>
          <a:xfrm>
            <a:off x="1691640" y="164592"/>
            <a:ext cx="7132320" cy="365760"/>
          </a:xfrm>
          <a:prstGeom prst="rect">
            <a:avLst/>
          </a:prstGeom>
          <a:noFill/>
          <a:ln/>
        </p:spPr>
        <p:txBody>
          <a:bodyPr wrap="square" rtlCol="0" anchor="ctr"/>
          <a:lstStyle/>
          <a:p>
            <a:pPr indent="0" marL="0">
              <a:buNone/>
            </a:pPr>
            <a:r>
              <a:rPr lang="en-US" sz="2200" b="1" dirty="0">
                <a:solidFill>
                  <a:srgbClr val="FFFFFF"/>
                </a:solidFill>
              </a:rPr>
              <a:t>Project Abstract</a:t>
            </a:r>
            <a:endParaRPr lang="en-US" sz="2200" dirty="0"/>
          </a:p>
        </p:txBody>
      </p:sp>
      <p:sp>
        <p:nvSpPr>
          <p:cNvPr id="6" name="Shape 4"/>
          <p:cNvSpPr/>
          <p:nvPr/>
        </p:nvSpPr>
        <p:spPr>
          <a:xfrm>
            <a:off x="365760" y="658368"/>
            <a:ext cx="8412480" cy="4224528"/>
          </a:xfrm>
          <a:prstGeom prst="rect">
            <a:avLst/>
          </a:prstGeom>
          <a:solidFill>
            <a:srgbClr val="162536"/>
          </a:solidFill>
          <a:ln w="12700">
            <a:solidFill>
              <a:srgbClr val="00A8E8"/>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365760" y="658368"/>
            <a:ext cx="54864" cy="457200"/>
          </a:xfrm>
          <a:prstGeom prst="rect">
            <a:avLst/>
          </a:prstGeom>
          <a:solidFill>
            <a:srgbClr val="00A8E8"/>
          </a:solidFill>
          <a:ln w="12700">
            <a:solidFill>
              <a:srgbClr val="00A8E8"/>
            </a:solidFill>
            <a:prstDash val="solid"/>
          </a:ln>
        </p:spPr>
      </p:sp>
      <p:sp>
        <p:nvSpPr>
          <p:cNvPr id="8" name="Text 6"/>
          <p:cNvSpPr/>
          <p:nvPr/>
        </p:nvSpPr>
        <p:spPr>
          <a:xfrm>
            <a:off x="548640" y="685800"/>
            <a:ext cx="8138160" cy="411480"/>
          </a:xfrm>
          <a:prstGeom prst="rect">
            <a:avLst/>
          </a:prstGeom>
          <a:noFill/>
          <a:ln/>
        </p:spPr>
        <p:txBody>
          <a:bodyPr wrap="square" rtlCol="0" anchor="ctr"/>
          <a:lstStyle/>
          <a:p>
            <a:pPr algn="ctr" indent="0" marL="0">
              <a:buNone/>
            </a:pPr>
            <a:r>
              <a:rPr lang="en-US" sz="1200" b="1" dirty="0">
                <a:solidFill>
                  <a:srgbClr val="00A8E8"/>
                </a:solidFill>
              </a:rPr>
              <a:t>AI FILE MANAGEMENT SYSTEM: AN INTELLIGENT DOCUMENT PROCESSING PLATFORM</a:t>
            </a:r>
            <a:endParaRPr lang="en-US" sz="1200" dirty="0"/>
          </a:p>
        </p:txBody>
      </p:sp>
      <p:sp>
        <p:nvSpPr>
          <p:cNvPr id="9" name="Text 7"/>
          <p:cNvSpPr/>
          <p:nvPr/>
        </p:nvSpPr>
        <p:spPr>
          <a:xfrm>
            <a:off x="548640" y="1170432"/>
            <a:ext cx="8138160" cy="3566160"/>
          </a:xfrm>
          <a:prstGeom prst="rect">
            <a:avLst/>
          </a:prstGeom>
          <a:noFill/>
          <a:ln/>
        </p:spPr>
        <p:txBody>
          <a:bodyPr wrap="square" rtlCol="0" anchor="ctr"/>
          <a:lstStyle/>
          <a:p>
            <a:pPr algn="just" indent="0" marL="0">
              <a:lnSpc>
                <a:spcPct val="140000"/>
              </a:lnSpc>
              <a:buNone/>
            </a:pPr>
            <a:r>
              <a:rPr lang="en-US" sz="1150" dirty="0">
                <a:solidFill>
                  <a:srgbClr val="E8F4FC"/>
                </a:solidFill>
              </a:rPr>
              <a:t>In the modern digital landscape, individuals and organizations face significant challenges in managing, organizing, and extracting meaningful insights from rapidly growing volumes of unstructured document data. Traditional file management systems rely on rigid folder structures and basic keyword searches, making it difficult to analyze varied formats such as PDFs, DOCX, and scanned images.</a:t>
            </a:r>
            <a:endParaRPr lang="en-US" sz="1150" dirty="0"/>
          </a:p>
          <a:p>
            <a:pPr algn="just" indent="0" marL="0">
              <a:lnSpc>
                <a:spcPct val="140000"/>
              </a:lnSpc>
              <a:buNone/>
            </a:pPr>
            <a:endParaRPr lang="en-US" sz="1150" dirty="0"/>
          </a:p>
          <a:p>
            <a:pPr algn="just" indent="0" marL="0">
              <a:lnSpc>
                <a:spcPct val="140000"/>
              </a:lnSpc>
              <a:buNone/>
            </a:pPr>
            <a:r>
              <a:rPr lang="en-US" sz="1150" dirty="0">
                <a:solidFill>
                  <a:srgbClr val="E8F4FC"/>
                </a:solidFill>
              </a:rPr>
              <a:t>This project proposes an AI File Management System — an intelligent document processing platform designed to bridge the gap between static storage and actionable intelligence. The system employs a FastAPI backend and a Streamlit frontend, utilizing Tesseract OCR for layout-aware text extraction. It integrates Sentence-Transformers and Qdrant Vector Database for deep semantic search, replacing limited keyword matching.</a:t>
            </a:r>
            <a:endParaRPr lang="en-US" sz="1150" dirty="0"/>
          </a:p>
          <a:p>
            <a:pPr algn="just" indent="0" marL="0">
              <a:lnSpc>
                <a:spcPct val="140000"/>
              </a:lnSpc>
              <a:buNone/>
            </a:pPr>
            <a:endParaRPr lang="en-US" sz="1150" dirty="0"/>
          </a:p>
          <a:p>
            <a:pPr algn="just" indent="0" marL="0">
              <a:lnSpc>
                <a:spcPct val="140000"/>
              </a:lnSpc>
              <a:buNone/>
            </a:pPr>
            <a:r>
              <a:rPr lang="en-US" sz="1150" dirty="0">
                <a:solidFill>
                  <a:srgbClr val="E8F4FC"/>
                </a:solidFill>
              </a:rPr>
              <a:t>The platform features a Pegasus-XSUM summarization engine, an auto-tagging system, duplicate/similarity detection, and an innovative file-merging protocol. Integration of Groq LLaMA-3.3-70B powers an interactive AI chatbot for conversational data extraction, content rewriting, and multi-format export. This system transforms passive document archives into active, searchable, and conversational knowledge bases.</a:t>
            </a:r>
            <a:endParaRPr lang="en-US" sz="1150" dirty="0"/>
          </a:p>
        </p:txBody>
      </p:sp>
      <p:sp>
        <p:nvSpPr>
          <p:cNvPr id="10" name="Shape 8"/>
          <p:cNvSpPr/>
          <p:nvPr/>
        </p:nvSpPr>
        <p:spPr>
          <a:xfrm>
            <a:off x="0" y="4983480"/>
            <a:ext cx="9144000" cy="164592"/>
          </a:xfrm>
          <a:prstGeom prst="rect">
            <a:avLst/>
          </a:prstGeom>
          <a:solidFill>
            <a:srgbClr val="1B263B"/>
          </a:solidFill>
          <a:ln w="12700">
            <a:solidFill>
              <a:srgbClr val="1B263B"/>
            </a:solidFill>
            <a:prstDash val="solid"/>
          </a:ln>
        </p:spPr>
      </p:sp>
      <p:sp>
        <p:nvSpPr>
          <p:cNvPr id="11" name="Text 9"/>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AI File Management System  |  Ben Sebastian Joseph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E8"/>
          </a:solidFill>
          <a:ln w="12700">
            <a:solidFill>
              <a:srgbClr val="00A8E8"/>
            </a:solidFill>
            <a:prstDash val="solid"/>
          </a:ln>
        </p:spPr>
      </p:sp>
      <p:sp>
        <p:nvSpPr>
          <p:cNvPr id="3" name="Shape 1"/>
          <p:cNvSpPr/>
          <p:nvPr/>
        </p:nvSpPr>
        <p:spPr>
          <a:xfrm>
            <a:off x="457200" y="182880"/>
            <a:ext cx="1097280" cy="274320"/>
          </a:xfrm>
          <a:prstGeom prst="rect">
            <a:avLst/>
          </a:prstGeom>
          <a:solidFill>
            <a:srgbClr val="27AE60"/>
          </a:solidFill>
          <a:ln w="12700">
            <a:solidFill>
              <a:srgbClr val="27AE60"/>
            </a:solidFill>
            <a:prstDash val="solid"/>
          </a:ln>
        </p:spPr>
      </p:sp>
      <p:sp>
        <p:nvSpPr>
          <p:cNvPr id="4" name="Text 2"/>
          <p:cNvSpPr/>
          <p:nvPr/>
        </p:nvSpPr>
        <p:spPr>
          <a:xfrm>
            <a:off x="457200" y="18288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rPr>
              <a:t>PHASE 1</a:t>
            </a:r>
            <a:endParaRPr lang="en-US" sz="900" dirty="0"/>
          </a:p>
        </p:txBody>
      </p:sp>
      <p:sp>
        <p:nvSpPr>
          <p:cNvPr id="5" name="Text 3"/>
          <p:cNvSpPr/>
          <p:nvPr/>
        </p:nvSpPr>
        <p:spPr>
          <a:xfrm>
            <a:off x="1691640" y="164592"/>
            <a:ext cx="7132320" cy="365760"/>
          </a:xfrm>
          <a:prstGeom prst="rect">
            <a:avLst/>
          </a:prstGeom>
          <a:noFill/>
          <a:ln/>
        </p:spPr>
        <p:txBody>
          <a:bodyPr wrap="square" rtlCol="0" anchor="ctr"/>
          <a:lstStyle/>
          <a:p>
            <a:pPr indent="0" marL="0">
              <a:buNone/>
            </a:pPr>
            <a:r>
              <a:rPr lang="en-US" sz="2200" b="1" dirty="0">
                <a:solidFill>
                  <a:srgbClr val="FFFFFF"/>
                </a:solidFill>
              </a:rPr>
              <a:t>System Architecture &amp; Modules</a:t>
            </a:r>
            <a:endParaRPr lang="en-US" sz="2200" dirty="0"/>
          </a:p>
        </p:txBody>
      </p:sp>
      <p:sp>
        <p:nvSpPr>
          <p:cNvPr id="6" name="Shape 4"/>
          <p:cNvSpPr/>
          <p:nvPr/>
        </p:nvSpPr>
        <p:spPr>
          <a:xfrm>
            <a:off x="274320" y="640080"/>
            <a:ext cx="1828800" cy="1005840"/>
          </a:xfrm>
          <a:prstGeom prst="rect">
            <a:avLst/>
          </a:prstGeom>
          <a:solidFill>
            <a:srgbClr val="00A8E8">
              <a:alpha val="85000"/>
            </a:srgbClr>
          </a:solidFill>
          <a:ln w="25400">
            <a:solidFill>
              <a:srgbClr val="00A8E8"/>
            </a:solidFill>
            <a:prstDash val="solid"/>
          </a:ln>
          <a:effectLst>
            <a:outerShdw sx="100000" sy="100000" kx="0" ky="0" algn="bl" rotWithShape="0" blurRad="101600" dist="38100" dir="8100000">
              <a:srgbClr val="000000">
                <a:alpha val="25000"/>
              </a:srgbClr>
            </a:outerShdw>
          </a:effectLst>
        </p:spPr>
      </p:sp>
      <p:sp>
        <p:nvSpPr>
          <p:cNvPr id="7" name="Text 5"/>
          <p:cNvSpPr/>
          <p:nvPr/>
        </p:nvSpPr>
        <p:spPr>
          <a:xfrm>
            <a:off x="274320" y="640080"/>
            <a:ext cx="1828800" cy="548640"/>
          </a:xfrm>
          <a:prstGeom prst="rect">
            <a:avLst/>
          </a:prstGeom>
          <a:noFill/>
          <a:ln/>
        </p:spPr>
        <p:txBody>
          <a:bodyPr wrap="square" rtlCol="0" anchor="ctr"/>
          <a:lstStyle/>
          <a:p>
            <a:pPr algn="ctr" indent="0" marL="0">
              <a:buNone/>
            </a:pPr>
            <a:r>
              <a:rPr lang="en-US" sz="1200" b="1" dirty="0">
                <a:solidFill>
                  <a:srgbClr val="FFFFFF"/>
                </a:solidFill>
              </a:rPr>
              <a:t>User Interface</a:t>
            </a:r>
            <a:endParaRPr lang="en-US" sz="1200" dirty="0"/>
          </a:p>
        </p:txBody>
      </p:sp>
      <p:sp>
        <p:nvSpPr>
          <p:cNvPr id="8" name="Text 6"/>
          <p:cNvSpPr/>
          <p:nvPr/>
        </p:nvSpPr>
        <p:spPr>
          <a:xfrm>
            <a:off x="274320" y="1188720"/>
            <a:ext cx="1828800" cy="457200"/>
          </a:xfrm>
          <a:prstGeom prst="rect">
            <a:avLst/>
          </a:prstGeom>
          <a:noFill/>
          <a:ln/>
        </p:spPr>
        <p:txBody>
          <a:bodyPr wrap="square" rtlCol="0" anchor="ctr"/>
          <a:lstStyle/>
          <a:p>
            <a:pPr algn="ctr" indent="0" marL="0">
              <a:buNone/>
            </a:pPr>
            <a:r>
              <a:rPr lang="en-US" sz="900" i="1" dirty="0">
                <a:solidFill>
                  <a:srgbClr val="E8F4FC"/>
                </a:solidFill>
              </a:rPr>
              <a:t>Streamlit Frontend</a:t>
            </a:r>
            <a:endParaRPr lang="en-US" sz="900" dirty="0"/>
          </a:p>
        </p:txBody>
      </p:sp>
      <p:sp>
        <p:nvSpPr>
          <p:cNvPr id="9" name="Shape 7"/>
          <p:cNvSpPr/>
          <p:nvPr/>
        </p:nvSpPr>
        <p:spPr>
          <a:xfrm>
            <a:off x="2121408" y="1088136"/>
            <a:ext cx="365760" cy="36576"/>
          </a:xfrm>
          <a:prstGeom prst="rect">
            <a:avLst/>
          </a:prstGeom>
          <a:solidFill>
            <a:srgbClr val="00A8E8"/>
          </a:solidFill>
          <a:ln w="12700">
            <a:solidFill>
              <a:srgbClr val="00A8E8"/>
            </a:solidFill>
            <a:prstDash val="solid"/>
          </a:ln>
        </p:spPr>
      </p:sp>
      <p:sp>
        <p:nvSpPr>
          <p:cNvPr id="10" name="Text 8"/>
          <p:cNvSpPr/>
          <p:nvPr/>
        </p:nvSpPr>
        <p:spPr>
          <a:xfrm>
            <a:off x="2395728" y="1005840"/>
            <a:ext cx="137160" cy="201168"/>
          </a:xfrm>
          <a:prstGeom prst="rect">
            <a:avLst/>
          </a:prstGeom>
          <a:noFill/>
          <a:ln/>
        </p:spPr>
        <p:txBody>
          <a:bodyPr wrap="square" lIns="0" tIns="0" rIns="0" bIns="0" rtlCol="0" anchor="ctr"/>
          <a:lstStyle/>
          <a:p>
            <a:pPr indent="0" marL="0">
              <a:buNone/>
            </a:pPr>
            <a:r>
              <a:rPr lang="en-US" sz="1000" dirty="0">
                <a:solidFill>
                  <a:srgbClr val="00A8E8"/>
                </a:solidFill>
              </a:rPr>
              <a:t>▶</a:t>
            </a:r>
            <a:endParaRPr lang="en-US" sz="1000" dirty="0"/>
          </a:p>
        </p:txBody>
      </p:sp>
      <p:sp>
        <p:nvSpPr>
          <p:cNvPr id="11" name="Shape 9"/>
          <p:cNvSpPr/>
          <p:nvPr/>
        </p:nvSpPr>
        <p:spPr>
          <a:xfrm>
            <a:off x="2240280" y="640080"/>
            <a:ext cx="1828800" cy="1005840"/>
          </a:xfrm>
          <a:prstGeom prst="rect">
            <a:avLst/>
          </a:prstGeom>
          <a:solidFill>
            <a:srgbClr val="F47B20">
              <a:alpha val="85000"/>
            </a:srgbClr>
          </a:solidFill>
          <a:ln w="25400">
            <a:solidFill>
              <a:srgbClr val="F47B20"/>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2240280" y="640080"/>
            <a:ext cx="1828800" cy="548640"/>
          </a:xfrm>
          <a:prstGeom prst="rect">
            <a:avLst/>
          </a:prstGeom>
          <a:noFill/>
          <a:ln/>
        </p:spPr>
        <p:txBody>
          <a:bodyPr wrap="square" rtlCol="0" anchor="ctr"/>
          <a:lstStyle/>
          <a:p>
            <a:pPr algn="ctr" indent="0" marL="0">
              <a:buNone/>
            </a:pPr>
            <a:r>
              <a:rPr lang="en-US" sz="1200" b="1" dirty="0">
                <a:solidFill>
                  <a:srgbClr val="FFFFFF"/>
                </a:solidFill>
              </a:rPr>
              <a:t>API Gateway</a:t>
            </a:r>
            <a:endParaRPr lang="en-US" sz="1200" dirty="0"/>
          </a:p>
        </p:txBody>
      </p:sp>
      <p:sp>
        <p:nvSpPr>
          <p:cNvPr id="13" name="Text 11"/>
          <p:cNvSpPr/>
          <p:nvPr/>
        </p:nvSpPr>
        <p:spPr>
          <a:xfrm>
            <a:off x="2240280" y="1188720"/>
            <a:ext cx="1828800" cy="457200"/>
          </a:xfrm>
          <a:prstGeom prst="rect">
            <a:avLst/>
          </a:prstGeom>
          <a:noFill/>
          <a:ln/>
        </p:spPr>
        <p:txBody>
          <a:bodyPr wrap="square" rtlCol="0" anchor="ctr"/>
          <a:lstStyle/>
          <a:p>
            <a:pPr algn="ctr" indent="0" marL="0">
              <a:buNone/>
            </a:pPr>
            <a:r>
              <a:rPr lang="en-US" sz="900" i="1" dirty="0">
                <a:solidFill>
                  <a:srgbClr val="E8F4FC"/>
                </a:solidFill>
              </a:rPr>
              <a:t>FastAPI Backend</a:t>
            </a:r>
            <a:endParaRPr lang="en-US" sz="900" dirty="0"/>
          </a:p>
        </p:txBody>
      </p:sp>
      <p:sp>
        <p:nvSpPr>
          <p:cNvPr id="14" name="Shape 12"/>
          <p:cNvSpPr/>
          <p:nvPr/>
        </p:nvSpPr>
        <p:spPr>
          <a:xfrm>
            <a:off x="4087368" y="1088136"/>
            <a:ext cx="365760" cy="36576"/>
          </a:xfrm>
          <a:prstGeom prst="rect">
            <a:avLst/>
          </a:prstGeom>
          <a:solidFill>
            <a:srgbClr val="00A8E8"/>
          </a:solidFill>
          <a:ln w="12700">
            <a:solidFill>
              <a:srgbClr val="00A8E8"/>
            </a:solidFill>
            <a:prstDash val="solid"/>
          </a:ln>
        </p:spPr>
      </p:sp>
      <p:sp>
        <p:nvSpPr>
          <p:cNvPr id="15" name="Text 13"/>
          <p:cNvSpPr/>
          <p:nvPr/>
        </p:nvSpPr>
        <p:spPr>
          <a:xfrm>
            <a:off x="4361688" y="1005840"/>
            <a:ext cx="137160" cy="201168"/>
          </a:xfrm>
          <a:prstGeom prst="rect">
            <a:avLst/>
          </a:prstGeom>
          <a:noFill/>
          <a:ln/>
        </p:spPr>
        <p:txBody>
          <a:bodyPr wrap="square" lIns="0" tIns="0" rIns="0" bIns="0" rtlCol="0" anchor="ctr"/>
          <a:lstStyle/>
          <a:p>
            <a:pPr indent="0" marL="0">
              <a:buNone/>
            </a:pPr>
            <a:r>
              <a:rPr lang="en-US" sz="1000" dirty="0">
                <a:solidFill>
                  <a:srgbClr val="00A8E8"/>
                </a:solidFill>
              </a:rPr>
              <a:t>▶</a:t>
            </a:r>
            <a:endParaRPr lang="en-US" sz="1000" dirty="0"/>
          </a:p>
        </p:txBody>
      </p:sp>
      <p:sp>
        <p:nvSpPr>
          <p:cNvPr id="16" name="Shape 14"/>
          <p:cNvSpPr/>
          <p:nvPr/>
        </p:nvSpPr>
        <p:spPr>
          <a:xfrm>
            <a:off x="4206240" y="640080"/>
            <a:ext cx="1828800" cy="1005840"/>
          </a:xfrm>
          <a:prstGeom prst="rect">
            <a:avLst/>
          </a:prstGeom>
          <a:solidFill>
            <a:srgbClr val="9B59B6">
              <a:alpha val="85000"/>
            </a:srgbClr>
          </a:solidFill>
          <a:ln w="25400">
            <a:solidFill>
              <a:srgbClr val="9B59B6"/>
            </a:solidFill>
            <a:prstDash val="solid"/>
          </a:ln>
          <a:effectLst>
            <a:outerShdw sx="100000" sy="100000" kx="0" ky="0" algn="bl" rotWithShape="0" blurRad="101600" dist="38100" dir="8100000">
              <a:srgbClr val="000000">
                <a:alpha val="25000"/>
              </a:srgbClr>
            </a:outerShdw>
          </a:effectLst>
        </p:spPr>
      </p:sp>
      <p:sp>
        <p:nvSpPr>
          <p:cNvPr id="17" name="Text 15"/>
          <p:cNvSpPr/>
          <p:nvPr/>
        </p:nvSpPr>
        <p:spPr>
          <a:xfrm>
            <a:off x="4206240" y="640080"/>
            <a:ext cx="1828800" cy="548640"/>
          </a:xfrm>
          <a:prstGeom prst="rect">
            <a:avLst/>
          </a:prstGeom>
          <a:noFill/>
          <a:ln/>
        </p:spPr>
        <p:txBody>
          <a:bodyPr wrap="square" rtlCol="0" anchor="ctr"/>
          <a:lstStyle/>
          <a:p>
            <a:pPr algn="ctr" indent="0" marL="0">
              <a:buNone/>
            </a:pPr>
            <a:r>
              <a:rPr lang="en-US" sz="1200" b="1" dirty="0">
                <a:solidFill>
                  <a:srgbClr val="FFFFFF"/>
                </a:solidFill>
              </a:rPr>
              <a:t>AI / ML Layer</a:t>
            </a:r>
            <a:endParaRPr lang="en-US" sz="1200" dirty="0"/>
          </a:p>
        </p:txBody>
      </p:sp>
      <p:sp>
        <p:nvSpPr>
          <p:cNvPr id="18" name="Text 16"/>
          <p:cNvSpPr/>
          <p:nvPr/>
        </p:nvSpPr>
        <p:spPr>
          <a:xfrm>
            <a:off x="4206240" y="1188720"/>
            <a:ext cx="1828800" cy="457200"/>
          </a:xfrm>
          <a:prstGeom prst="rect">
            <a:avLst/>
          </a:prstGeom>
          <a:noFill/>
          <a:ln/>
        </p:spPr>
        <p:txBody>
          <a:bodyPr wrap="square" rtlCol="0" anchor="ctr"/>
          <a:lstStyle/>
          <a:p>
            <a:pPr algn="ctr" indent="0" marL="0">
              <a:buNone/>
            </a:pPr>
            <a:r>
              <a:rPr lang="en-US" sz="900" i="1" dirty="0">
                <a:solidFill>
                  <a:srgbClr val="E8F4FC"/>
                </a:solidFill>
              </a:rPr>
              <a:t>Tesseract · Pegasus · SBERT</a:t>
            </a:r>
            <a:endParaRPr lang="en-US" sz="900" dirty="0"/>
          </a:p>
        </p:txBody>
      </p:sp>
      <p:sp>
        <p:nvSpPr>
          <p:cNvPr id="19" name="Shape 17"/>
          <p:cNvSpPr/>
          <p:nvPr/>
        </p:nvSpPr>
        <p:spPr>
          <a:xfrm>
            <a:off x="6053328" y="1088136"/>
            <a:ext cx="365760" cy="36576"/>
          </a:xfrm>
          <a:prstGeom prst="rect">
            <a:avLst/>
          </a:prstGeom>
          <a:solidFill>
            <a:srgbClr val="00A8E8"/>
          </a:solidFill>
          <a:ln w="12700">
            <a:solidFill>
              <a:srgbClr val="00A8E8"/>
            </a:solidFill>
            <a:prstDash val="solid"/>
          </a:ln>
        </p:spPr>
      </p:sp>
      <p:sp>
        <p:nvSpPr>
          <p:cNvPr id="20" name="Text 18"/>
          <p:cNvSpPr/>
          <p:nvPr/>
        </p:nvSpPr>
        <p:spPr>
          <a:xfrm>
            <a:off x="6327648" y="1005840"/>
            <a:ext cx="137160" cy="201168"/>
          </a:xfrm>
          <a:prstGeom prst="rect">
            <a:avLst/>
          </a:prstGeom>
          <a:noFill/>
          <a:ln/>
        </p:spPr>
        <p:txBody>
          <a:bodyPr wrap="square" lIns="0" tIns="0" rIns="0" bIns="0" rtlCol="0" anchor="ctr"/>
          <a:lstStyle/>
          <a:p>
            <a:pPr indent="0" marL="0">
              <a:buNone/>
            </a:pPr>
            <a:r>
              <a:rPr lang="en-US" sz="1000" dirty="0">
                <a:solidFill>
                  <a:srgbClr val="00A8E8"/>
                </a:solidFill>
              </a:rPr>
              <a:t>▶</a:t>
            </a:r>
            <a:endParaRPr lang="en-US" sz="1000" dirty="0"/>
          </a:p>
        </p:txBody>
      </p:sp>
      <p:sp>
        <p:nvSpPr>
          <p:cNvPr id="21" name="Shape 19"/>
          <p:cNvSpPr/>
          <p:nvPr/>
        </p:nvSpPr>
        <p:spPr>
          <a:xfrm>
            <a:off x="6172200" y="640080"/>
            <a:ext cx="1828800" cy="1005840"/>
          </a:xfrm>
          <a:prstGeom prst="rect">
            <a:avLst/>
          </a:prstGeom>
          <a:solidFill>
            <a:srgbClr val="27AE60">
              <a:alpha val="85000"/>
            </a:srgbClr>
          </a:solidFill>
          <a:ln w="25400">
            <a:solidFill>
              <a:srgbClr val="27AE60"/>
            </a:solidFill>
            <a:prstDash val="solid"/>
          </a:ln>
          <a:effectLst>
            <a:outerShdw sx="100000" sy="100000" kx="0" ky="0" algn="bl" rotWithShape="0" blurRad="101600" dist="38100" dir="8100000">
              <a:srgbClr val="000000">
                <a:alpha val="25000"/>
              </a:srgbClr>
            </a:outerShdw>
          </a:effectLst>
        </p:spPr>
      </p:sp>
      <p:sp>
        <p:nvSpPr>
          <p:cNvPr id="22" name="Text 20"/>
          <p:cNvSpPr/>
          <p:nvPr/>
        </p:nvSpPr>
        <p:spPr>
          <a:xfrm>
            <a:off x="6172200" y="640080"/>
            <a:ext cx="1828800" cy="548640"/>
          </a:xfrm>
          <a:prstGeom prst="rect">
            <a:avLst/>
          </a:prstGeom>
          <a:noFill/>
          <a:ln/>
        </p:spPr>
        <p:txBody>
          <a:bodyPr wrap="square" rtlCol="0" anchor="ctr"/>
          <a:lstStyle/>
          <a:p>
            <a:pPr algn="ctr" indent="0" marL="0">
              <a:buNone/>
            </a:pPr>
            <a:r>
              <a:rPr lang="en-US" sz="1200" b="1" dirty="0">
                <a:solidFill>
                  <a:srgbClr val="FFFFFF"/>
                </a:solidFill>
              </a:rPr>
              <a:t>Storage Layer</a:t>
            </a:r>
            <a:endParaRPr lang="en-US" sz="1200" dirty="0"/>
          </a:p>
        </p:txBody>
      </p:sp>
      <p:sp>
        <p:nvSpPr>
          <p:cNvPr id="23" name="Text 21"/>
          <p:cNvSpPr/>
          <p:nvPr/>
        </p:nvSpPr>
        <p:spPr>
          <a:xfrm>
            <a:off x="6172200" y="1188720"/>
            <a:ext cx="1828800" cy="457200"/>
          </a:xfrm>
          <a:prstGeom prst="rect">
            <a:avLst/>
          </a:prstGeom>
          <a:noFill/>
          <a:ln/>
        </p:spPr>
        <p:txBody>
          <a:bodyPr wrap="square" rtlCol="0" anchor="ctr"/>
          <a:lstStyle/>
          <a:p>
            <a:pPr algn="ctr" indent="0" marL="0">
              <a:buNone/>
            </a:pPr>
            <a:r>
              <a:rPr lang="en-US" sz="900" i="1" dirty="0">
                <a:solidFill>
                  <a:srgbClr val="E8F4FC"/>
                </a:solidFill>
              </a:rPr>
              <a:t>SQLite · Qdrant VDB</a:t>
            </a:r>
            <a:endParaRPr lang="en-US" sz="900" dirty="0"/>
          </a:p>
        </p:txBody>
      </p:sp>
      <p:sp>
        <p:nvSpPr>
          <p:cNvPr id="24" name="Shape 22"/>
          <p:cNvSpPr/>
          <p:nvPr/>
        </p:nvSpPr>
        <p:spPr>
          <a:xfrm>
            <a:off x="8138160" y="640080"/>
            <a:ext cx="777240" cy="1005840"/>
          </a:xfrm>
          <a:prstGeom prst="rect">
            <a:avLst/>
          </a:prstGeom>
          <a:solidFill>
            <a:srgbClr val="1B263B"/>
          </a:solidFill>
          <a:ln w="12700">
            <a:solidFill>
              <a:srgbClr val="B0C4D8"/>
            </a:solidFill>
            <a:prstDash val="solid"/>
          </a:ln>
        </p:spPr>
      </p:sp>
      <p:sp>
        <p:nvSpPr>
          <p:cNvPr id="25" name="Text 23"/>
          <p:cNvSpPr/>
          <p:nvPr/>
        </p:nvSpPr>
        <p:spPr>
          <a:xfrm>
            <a:off x="8138160" y="640080"/>
            <a:ext cx="777240" cy="1005840"/>
          </a:xfrm>
          <a:prstGeom prst="rect">
            <a:avLst/>
          </a:prstGeom>
          <a:noFill/>
          <a:ln/>
        </p:spPr>
        <p:txBody>
          <a:bodyPr wrap="square" rtlCol="0" anchor="ctr"/>
          <a:lstStyle/>
          <a:p>
            <a:pPr algn="ctr" indent="0" marL="0">
              <a:buNone/>
            </a:pPr>
            <a:r>
              <a:rPr lang="en-US" sz="900" dirty="0">
                <a:solidFill>
                  <a:srgbClr val="B0C4D8"/>
                </a:solidFill>
              </a:rPr>
              <a:t>📊</a:t>
            </a:r>
            <a:endParaRPr lang="en-US" sz="900" dirty="0"/>
          </a:p>
          <a:p>
            <a:pPr algn="ctr" indent="0" marL="0">
              <a:buNone/>
            </a:pPr>
            <a:r>
              <a:rPr lang="en-US" sz="900" dirty="0">
                <a:solidFill>
                  <a:srgbClr val="B0C4D8"/>
                </a:solidFill>
              </a:rPr>
              <a:t>Dash</a:t>
            </a:r>
            <a:endParaRPr lang="en-US" sz="900" dirty="0"/>
          </a:p>
        </p:txBody>
      </p:sp>
      <p:sp>
        <p:nvSpPr>
          <p:cNvPr id="26" name="Shape 24"/>
          <p:cNvSpPr/>
          <p:nvPr/>
        </p:nvSpPr>
        <p:spPr>
          <a:xfrm>
            <a:off x="274320" y="1920240"/>
            <a:ext cx="4069080" cy="1280160"/>
          </a:xfrm>
          <a:prstGeom prst="rect">
            <a:avLst/>
          </a:prstGeom>
          <a:solidFill>
            <a:srgbClr val="162536"/>
          </a:solidFill>
          <a:ln w="19050">
            <a:solidFill>
              <a:srgbClr val="00A8E8"/>
            </a:solidFill>
            <a:prstDash val="solid"/>
          </a:ln>
          <a:effectLst>
            <a:outerShdw sx="100000" sy="100000" kx="0" ky="0" algn="bl" rotWithShape="0" blurRad="101600" dist="38100" dir="8100000">
              <a:srgbClr val="000000">
                <a:alpha val="25000"/>
              </a:srgbClr>
            </a:outerShdw>
          </a:effectLst>
        </p:spPr>
      </p:sp>
      <p:sp>
        <p:nvSpPr>
          <p:cNvPr id="27" name="Shape 25"/>
          <p:cNvSpPr/>
          <p:nvPr/>
        </p:nvSpPr>
        <p:spPr>
          <a:xfrm>
            <a:off x="274320" y="1920240"/>
            <a:ext cx="502920" cy="1280160"/>
          </a:xfrm>
          <a:prstGeom prst="rect">
            <a:avLst/>
          </a:prstGeom>
          <a:solidFill>
            <a:srgbClr val="00A8E8">
              <a:alpha val="90000"/>
            </a:srgbClr>
          </a:solidFill>
          <a:ln w="12700">
            <a:solidFill>
              <a:srgbClr val="00A8E8"/>
            </a:solidFill>
            <a:prstDash val="solid"/>
          </a:ln>
        </p:spPr>
      </p:sp>
      <p:sp>
        <p:nvSpPr>
          <p:cNvPr id="28" name="Text 26"/>
          <p:cNvSpPr/>
          <p:nvPr/>
        </p:nvSpPr>
        <p:spPr>
          <a:xfrm>
            <a:off x="274320" y="1920240"/>
            <a:ext cx="502920" cy="1280160"/>
          </a:xfrm>
          <a:prstGeom prst="rect">
            <a:avLst/>
          </a:prstGeom>
          <a:noFill/>
          <a:ln/>
        </p:spPr>
        <p:txBody>
          <a:bodyPr wrap="square" lIns="0" tIns="0" rIns="0" bIns="0" rtlCol="0" anchor="ctr"/>
          <a:lstStyle/>
          <a:p>
            <a:pPr algn="ctr" indent="0" marL="0">
              <a:buNone/>
            </a:pPr>
            <a:r>
              <a:rPr lang="en-US" sz="2000" b="1" dirty="0">
                <a:solidFill>
                  <a:srgbClr val="FFFFFF"/>
                </a:solidFill>
              </a:rPr>
              <a:t>01</a:t>
            </a:r>
            <a:endParaRPr lang="en-US" sz="2000" dirty="0"/>
          </a:p>
        </p:txBody>
      </p:sp>
      <p:sp>
        <p:nvSpPr>
          <p:cNvPr id="29" name="Text 27"/>
          <p:cNvSpPr/>
          <p:nvPr/>
        </p:nvSpPr>
        <p:spPr>
          <a:xfrm>
            <a:off x="868680" y="2011680"/>
            <a:ext cx="3401568" cy="411480"/>
          </a:xfrm>
          <a:prstGeom prst="rect">
            <a:avLst/>
          </a:prstGeom>
          <a:noFill/>
          <a:ln/>
        </p:spPr>
        <p:txBody>
          <a:bodyPr wrap="square" rtlCol="0" anchor="ctr"/>
          <a:lstStyle/>
          <a:p>
            <a:pPr indent="0" marL="0">
              <a:buNone/>
            </a:pPr>
            <a:r>
              <a:rPr lang="en-US" sz="1200" b="1" dirty="0">
                <a:solidFill>
                  <a:srgbClr val="FFFFFF"/>
                </a:solidFill>
              </a:rPr>
              <a:t>Data Collection &amp; Processing</a:t>
            </a:r>
            <a:endParaRPr lang="en-US" sz="1200" dirty="0"/>
          </a:p>
        </p:txBody>
      </p:sp>
      <p:sp>
        <p:nvSpPr>
          <p:cNvPr id="30" name="Text 28"/>
          <p:cNvSpPr/>
          <p:nvPr/>
        </p:nvSpPr>
        <p:spPr>
          <a:xfrm>
            <a:off x="868680" y="2423160"/>
            <a:ext cx="3401568" cy="685800"/>
          </a:xfrm>
          <a:prstGeom prst="rect">
            <a:avLst/>
          </a:prstGeom>
          <a:noFill/>
          <a:ln/>
        </p:spPr>
        <p:txBody>
          <a:bodyPr wrap="square" rtlCol="0" anchor="ctr"/>
          <a:lstStyle/>
          <a:p>
            <a:pPr indent="0" marL="0">
              <a:buNone/>
            </a:pPr>
            <a:r>
              <a:rPr lang="en-US" sz="1050" dirty="0">
                <a:solidFill>
                  <a:srgbClr val="B0C4D8"/>
                </a:solidFill>
              </a:rPr>
              <a:t>Tesseract OCR extracts text from all uploaded file formats with layout awareness</a:t>
            </a:r>
            <a:endParaRPr lang="en-US" sz="1050" dirty="0"/>
          </a:p>
        </p:txBody>
      </p:sp>
      <p:sp>
        <p:nvSpPr>
          <p:cNvPr id="31" name="Shape 29"/>
          <p:cNvSpPr/>
          <p:nvPr/>
        </p:nvSpPr>
        <p:spPr>
          <a:xfrm>
            <a:off x="4617720" y="1920240"/>
            <a:ext cx="4069080" cy="1280160"/>
          </a:xfrm>
          <a:prstGeom prst="rect">
            <a:avLst/>
          </a:prstGeom>
          <a:solidFill>
            <a:srgbClr val="162536"/>
          </a:solidFill>
          <a:ln w="19050">
            <a:solidFill>
              <a:srgbClr val="9B59B6"/>
            </a:solidFill>
            <a:prstDash val="solid"/>
          </a:ln>
          <a:effectLst>
            <a:outerShdw sx="100000" sy="100000" kx="0" ky="0" algn="bl" rotWithShape="0" blurRad="101600" dist="38100" dir="8100000">
              <a:srgbClr val="000000">
                <a:alpha val="25000"/>
              </a:srgbClr>
            </a:outerShdw>
          </a:effectLst>
        </p:spPr>
      </p:sp>
      <p:sp>
        <p:nvSpPr>
          <p:cNvPr id="32" name="Shape 30"/>
          <p:cNvSpPr/>
          <p:nvPr/>
        </p:nvSpPr>
        <p:spPr>
          <a:xfrm>
            <a:off x="4617720" y="1920240"/>
            <a:ext cx="502920" cy="1280160"/>
          </a:xfrm>
          <a:prstGeom prst="rect">
            <a:avLst/>
          </a:prstGeom>
          <a:solidFill>
            <a:srgbClr val="9B59B6">
              <a:alpha val="90000"/>
            </a:srgbClr>
          </a:solidFill>
          <a:ln w="12700">
            <a:solidFill>
              <a:srgbClr val="9B59B6"/>
            </a:solidFill>
            <a:prstDash val="solid"/>
          </a:ln>
        </p:spPr>
      </p:sp>
      <p:sp>
        <p:nvSpPr>
          <p:cNvPr id="33" name="Text 31"/>
          <p:cNvSpPr/>
          <p:nvPr/>
        </p:nvSpPr>
        <p:spPr>
          <a:xfrm>
            <a:off x="4617720" y="1920240"/>
            <a:ext cx="502920" cy="1280160"/>
          </a:xfrm>
          <a:prstGeom prst="rect">
            <a:avLst/>
          </a:prstGeom>
          <a:noFill/>
          <a:ln/>
        </p:spPr>
        <p:txBody>
          <a:bodyPr wrap="square" lIns="0" tIns="0" rIns="0" bIns="0" rtlCol="0" anchor="ctr"/>
          <a:lstStyle/>
          <a:p>
            <a:pPr algn="ctr" indent="0" marL="0">
              <a:buNone/>
            </a:pPr>
            <a:r>
              <a:rPr lang="en-US" sz="2000" b="1" dirty="0">
                <a:solidFill>
                  <a:srgbClr val="FFFFFF"/>
                </a:solidFill>
              </a:rPr>
              <a:t>02</a:t>
            </a:r>
            <a:endParaRPr lang="en-US" sz="2000" dirty="0"/>
          </a:p>
        </p:txBody>
      </p:sp>
      <p:sp>
        <p:nvSpPr>
          <p:cNvPr id="34" name="Text 32"/>
          <p:cNvSpPr/>
          <p:nvPr/>
        </p:nvSpPr>
        <p:spPr>
          <a:xfrm>
            <a:off x="5212080" y="2011680"/>
            <a:ext cx="3401568" cy="411480"/>
          </a:xfrm>
          <a:prstGeom prst="rect">
            <a:avLst/>
          </a:prstGeom>
          <a:noFill/>
          <a:ln/>
        </p:spPr>
        <p:txBody>
          <a:bodyPr wrap="square" rtlCol="0" anchor="ctr"/>
          <a:lstStyle/>
          <a:p>
            <a:pPr indent="0" marL="0">
              <a:buNone/>
            </a:pPr>
            <a:r>
              <a:rPr lang="en-US" sz="1200" b="1" dirty="0">
                <a:solidFill>
                  <a:srgbClr val="FFFFFF"/>
                </a:solidFill>
              </a:rPr>
              <a:t>AI &amp; Intelligence Layer</a:t>
            </a:r>
            <a:endParaRPr lang="en-US" sz="1200" dirty="0"/>
          </a:p>
        </p:txBody>
      </p:sp>
      <p:sp>
        <p:nvSpPr>
          <p:cNvPr id="35" name="Text 33"/>
          <p:cNvSpPr/>
          <p:nvPr/>
        </p:nvSpPr>
        <p:spPr>
          <a:xfrm>
            <a:off x="5212080" y="2423160"/>
            <a:ext cx="3401568" cy="685800"/>
          </a:xfrm>
          <a:prstGeom prst="rect">
            <a:avLst/>
          </a:prstGeom>
          <a:noFill/>
          <a:ln/>
        </p:spPr>
        <p:txBody>
          <a:bodyPr wrap="square" rtlCol="0" anchor="ctr"/>
          <a:lstStyle/>
          <a:p>
            <a:pPr indent="0" marL="0">
              <a:buNone/>
            </a:pPr>
            <a:r>
              <a:rPr lang="en-US" sz="1050" dirty="0">
                <a:solidFill>
                  <a:srgbClr val="B0C4D8"/>
                </a:solidFill>
              </a:rPr>
              <a:t>Pegasus generates dynamic summaries; Sentence-Transformers encode semantic vectors</a:t>
            </a:r>
            <a:endParaRPr lang="en-US" sz="1050" dirty="0"/>
          </a:p>
        </p:txBody>
      </p:sp>
      <p:sp>
        <p:nvSpPr>
          <p:cNvPr id="36" name="Shape 34"/>
          <p:cNvSpPr/>
          <p:nvPr/>
        </p:nvSpPr>
        <p:spPr>
          <a:xfrm>
            <a:off x="274320" y="3429000"/>
            <a:ext cx="4069080" cy="1280160"/>
          </a:xfrm>
          <a:prstGeom prst="rect">
            <a:avLst/>
          </a:prstGeom>
          <a:solidFill>
            <a:srgbClr val="162536"/>
          </a:solidFill>
          <a:ln w="19050">
            <a:solidFill>
              <a:srgbClr val="27AE60"/>
            </a:solidFill>
            <a:prstDash val="solid"/>
          </a:ln>
          <a:effectLst>
            <a:outerShdw sx="100000" sy="100000" kx="0" ky="0" algn="bl" rotWithShape="0" blurRad="101600" dist="38100" dir="8100000">
              <a:srgbClr val="000000">
                <a:alpha val="25000"/>
              </a:srgbClr>
            </a:outerShdw>
          </a:effectLst>
        </p:spPr>
      </p:sp>
      <p:sp>
        <p:nvSpPr>
          <p:cNvPr id="37" name="Shape 35"/>
          <p:cNvSpPr/>
          <p:nvPr/>
        </p:nvSpPr>
        <p:spPr>
          <a:xfrm>
            <a:off x="274320" y="3429000"/>
            <a:ext cx="502920" cy="1280160"/>
          </a:xfrm>
          <a:prstGeom prst="rect">
            <a:avLst/>
          </a:prstGeom>
          <a:solidFill>
            <a:srgbClr val="27AE60">
              <a:alpha val="90000"/>
            </a:srgbClr>
          </a:solidFill>
          <a:ln w="12700">
            <a:solidFill>
              <a:srgbClr val="27AE60"/>
            </a:solidFill>
            <a:prstDash val="solid"/>
          </a:ln>
        </p:spPr>
      </p:sp>
      <p:sp>
        <p:nvSpPr>
          <p:cNvPr id="38" name="Text 36"/>
          <p:cNvSpPr/>
          <p:nvPr/>
        </p:nvSpPr>
        <p:spPr>
          <a:xfrm>
            <a:off x="274320" y="3429000"/>
            <a:ext cx="502920" cy="1280160"/>
          </a:xfrm>
          <a:prstGeom prst="rect">
            <a:avLst/>
          </a:prstGeom>
          <a:noFill/>
          <a:ln/>
        </p:spPr>
        <p:txBody>
          <a:bodyPr wrap="square" lIns="0" tIns="0" rIns="0" bIns="0" rtlCol="0" anchor="ctr"/>
          <a:lstStyle/>
          <a:p>
            <a:pPr algn="ctr" indent="0" marL="0">
              <a:buNone/>
            </a:pPr>
            <a:r>
              <a:rPr lang="en-US" sz="2000" b="1" dirty="0">
                <a:solidFill>
                  <a:srgbClr val="FFFFFF"/>
                </a:solidFill>
              </a:rPr>
              <a:t>03</a:t>
            </a:r>
            <a:endParaRPr lang="en-US" sz="2000" dirty="0"/>
          </a:p>
        </p:txBody>
      </p:sp>
      <p:sp>
        <p:nvSpPr>
          <p:cNvPr id="39" name="Text 37"/>
          <p:cNvSpPr/>
          <p:nvPr/>
        </p:nvSpPr>
        <p:spPr>
          <a:xfrm>
            <a:off x="868680" y="3520440"/>
            <a:ext cx="3401568" cy="411480"/>
          </a:xfrm>
          <a:prstGeom prst="rect">
            <a:avLst/>
          </a:prstGeom>
          <a:noFill/>
          <a:ln/>
        </p:spPr>
        <p:txBody>
          <a:bodyPr wrap="square" rtlCol="0" anchor="ctr"/>
          <a:lstStyle/>
          <a:p>
            <a:pPr indent="0" marL="0">
              <a:buNone/>
            </a:pPr>
            <a:r>
              <a:rPr lang="en-US" sz="1200" b="1" dirty="0">
                <a:solidFill>
                  <a:srgbClr val="FFFFFF"/>
                </a:solidFill>
              </a:rPr>
              <a:t>Storage Layer</a:t>
            </a:r>
            <a:endParaRPr lang="en-US" sz="1200" dirty="0"/>
          </a:p>
        </p:txBody>
      </p:sp>
      <p:sp>
        <p:nvSpPr>
          <p:cNvPr id="40" name="Text 38"/>
          <p:cNvSpPr/>
          <p:nvPr/>
        </p:nvSpPr>
        <p:spPr>
          <a:xfrm>
            <a:off x="868680" y="3931920"/>
            <a:ext cx="3401568" cy="685800"/>
          </a:xfrm>
          <a:prstGeom prst="rect">
            <a:avLst/>
          </a:prstGeom>
          <a:noFill/>
          <a:ln/>
        </p:spPr>
        <p:txBody>
          <a:bodyPr wrap="square" rtlCol="0" anchor="ctr"/>
          <a:lstStyle/>
          <a:p>
            <a:pPr indent="0" marL="0">
              <a:buNone/>
            </a:pPr>
            <a:r>
              <a:rPr lang="en-US" sz="1050" dirty="0">
                <a:solidFill>
                  <a:srgbClr val="B0C4D8"/>
                </a:solidFill>
              </a:rPr>
              <a:t>SQLite handles relational metadata; Qdrant Vector DB stores embedding vectors at scale</a:t>
            </a:r>
            <a:endParaRPr lang="en-US" sz="1050" dirty="0"/>
          </a:p>
        </p:txBody>
      </p:sp>
      <p:sp>
        <p:nvSpPr>
          <p:cNvPr id="41" name="Shape 39"/>
          <p:cNvSpPr/>
          <p:nvPr/>
        </p:nvSpPr>
        <p:spPr>
          <a:xfrm>
            <a:off x="4617720" y="3429000"/>
            <a:ext cx="4069080" cy="1280160"/>
          </a:xfrm>
          <a:prstGeom prst="rect">
            <a:avLst/>
          </a:prstGeom>
          <a:solidFill>
            <a:srgbClr val="162536"/>
          </a:solidFill>
          <a:ln w="19050">
            <a:solidFill>
              <a:srgbClr val="F47B20"/>
            </a:solidFill>
            <a:prstDash val="solid"/>
          </a:ln>
          <a:effectLst>
            <a:outerShdw sx="100000" sy="100000" kx="0" ky="0" algn="bl" rotWithShape="0" blurRad="101600" dist="38100" dir="8100000">
              <a:srgbClr val="000000">
                <a:alpha val="25000"/>
              </a:srgbClr>
            </a:outerShdw>
          </a:effectLst>
        </p:spPr>
      </p:sp>
      <p:sp>
        <p:nvSpPr>
          <p:cNvPr id="42" name="Shape 40"/>
          <p:cNvSpPr/>
          <p:nvPr/>
        </p:nvSpPr>
        <p:spPr>
          <a:xfrm>
            <a:off x="4617720" y="3429000"/>
            <a:ext cx="502920" cy="1280160"/>
          </a:xfrm>
          <a:prstGeom prst="rect">
            <a:avLst/>
          </a:prstGeom>
          <a:solidFill>
            <a:srgbClr val="F47B20">
              <a:alpha val="90000"/>
            </a:srgbClr>
          </a:solidFill>
          <a:ln w="12700">
            <a:solidFill>
              <a:srgbClr val="F47B20"/>
            </a:solidFill>
            <a:prstDash val="solid"/>
          </a:ln>
        </p:spPr>
      </p:sp>
      <p:sp>
        <p:nvSpPr>
          <p:cNvPr id="43" name="Text 41"/>
          <p:cNvSpPr/>
          <p:nvPr/>
        </p:nvSpPr>
        <p:spPr>
          <a:xfrm>
            <a:off x="4617720" y="3429000"/>
            <a:ext cx="502920" cy="1280160"/>
          </a:xfrm>
          <a:prstGeom prst="rect">
            <a:avLst/>
          </a:prstGeom>
          <a:noFill/>
          <a:ln/>
        </p:spPr>
        <p:txBody>
          <a:bodyPr wrap="square" lIns="0" tIns="0" rIns="0" bIns="0" rtlCol="0" anchor="ctr"/>
          <a:lstStyle/>
          <a:p>
            <a:pPr algn="ctr" indent="0" marL="0">
              <a:buNone/>
            </a:pPr>
            <a:r>
              <a:rPr lang="en-US" sz="2000" b="1" dirty="0">
                <a:solidFill>
                  <a:srgbClr val="FFFFFF"/>
                </a:solidFill>
              </a:rPr>
              <a:t>04</a:t>
            </a:r>
            <a:endParaRPr lang="en-US" sz="2000" dirty="0"/>
          </a:p>
        </p:txBody>
      </p:sp>
      <p:sp>
        <p:nvSpPr>
          <p:cNvPr id="44" name="Text 42"/>
          <p:cNvSpPr/>
          <p:nvPr/>
        </p:nvSpPr>
        <p:spPr>
          <a:xfrm>
            <a:off x="5212080" y="3520440"/>
            <a:ext cx="3401568" cy="411480"/>
          </a:xfrm>
          <a:prstGeom prst="rect">
            <a:avLst/>
          </a:prstGeom>
          <a:noFill/>
          <a:ln/>
        </p:spPr>
        <p:txBody>
          <a:bodyPr wrap="square" rtlCol="0" anchor="ctr"/>
          <a:lstStyle/>
          <a:p>
            <a:pPr indent="0" marL="0">
              <a:buNone/>
            </a:pPr>
            <a:r>
              <a:rPr lang="en-US" sz="1200" b="1" dirty="0">
                <a:solidFill>
                  <a:srgbClr val="FFFFFF"/>
                </a:solidFill>
              </a:rPr>
              <a:t>User Dashboard</a:t>
            </a:r>
            <a:endParaRPr lang="en-US" sz="1200" dirty="0"/>
          </a:p>
        </p:txBody>
      </p:sp>
      <p:sp>
        <p:nvSpPr>
          <p:cNvPr id="45" name="Text 43"/>
          <p:cNvSpPr/>
          <p:nvPr/>
        </p:nvSpPr>
        <p:spPr>
          <a:xfrm>
            <a:off x="5212080" y="3931920"/>
            <a:ext cx="3401568" cy="685800"/>
          </a:xfrm>
          <a:prstGeom prst="rect">
            <a:avLst/>
          </a:prstGeom>
          <a:noFill/>
          <a:ln/>
        </p:spPr>
        <p:txBody>
          <a:bodyPr wrap="square" rtlCol="0" anchor="ctr"/>
          <a:lstStyle/>
          <a:p>
            <a:pPr indent="0" marL="0">
              <a:buNone/>
            </a:pPr>
            <a:r>
              <a:rPr lang="en-US" sz="1050" dirty="0">
                <a:solidFill>
                  <a:srgbClr val="B0C4D8"/>
                </a:solidFill>
              </a:rPr>
              <a:t>Streamlit interface acts as interaction hub — search, chat, compare, merge and export</a:t>
            </a:r>
            <a:endParaRPr lang="en-US" sz="1050" dirty="0"/>
          </a:p>
        </p:txBody>
      </p:sp>
      <p:sp>
        <p:nvSpPr>
          <p:cNvPr id="46" name="Shape 44"/>
          <p:cNvSpPr/>
          <p:nvPr/>
        </p:nvSpPr>
        <p:spPr>
          <a:xfrm>
            <a:off x="0" y="4983480"/>
            <a:ext cx="9144000" cy="164592"/>
          </a:xfrm>
          <a:prstGeom prst="rect">
            <a:avLst/>
          </a:prstGeom>
          <a:solidFill>
            <a:srgbClr val="1B263B"/>
          </a:solidFill>
          <a:ln w="12700">
            <a:solidFill>
              <a:srgbClr val="1B263B"/>
            </a:solidFill>
            <a:prstDash val="solid"/>
          </a:ln>
        </p:spPr>
      </p:sp>
      <p:sp>
        <p:nvSpPr>
          <p:cNvPr id="47" name="Text 45"/>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AI File Management System  |  Ben Sebastian Joseph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E8"/>
          </a:solidFill>
          <a:ln w="12700">
            <a:solidFill>
              <a:srgbClr val="00A8E8"/>
            </a:solidFill>
            <a:prstDash val="solid"/>
          </a:ln>
        </p:spPr>
      </p:sp>
      <p:sp>
        <p:nvSpPr>
          <p:cNvPr id="3" name="Shape 1"/>
          <p:cNvSpPr/>
          <p:nvPr/>
        </p:nvSpPr>
        <p:spPr>
          <a:xfrm>
            <a:off x="457200" y="182880"/>
            <a:ext cx="1097280" cy="274320"/>
          </a:xfrm>
          <a:prstGeom prst="rect">
            <a:avLst/>
          </a:prstGeom>
          <a:solidFill>
            <a:srgbClr val="00A8E8"/>
          </a:solidFill>
          <a:ln w="12700">
            <a:solidFill>
              <a:srgbClr val="00A8E8"/>
            </a:solidFill>
            <a:prstDash val="solid"/>
          </a:ln>
        </p:spPr>
      </p:sp>
      <p:sp>
        <p:nvSpPr>
          <p:cNvPr id="4" name="Text 2"/>
          <p:cNvSpPr/>
          <p:nvPr/>
        </p:nvSpPr>
        <p:spPr>
          <a:xfrm>
            <a:off x="457200" y="18288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rPr>
              <a:t>PHASE 2</a:t>
            </a:r>
            <a:endParaRPr lang="en-US" sz="900" dirty="0"/>
          </a:p>
        </p:txBody>
      </p:sp>
      <p:sp>
        <p:nvSpPr>
          <p:cNvPr id="5" name="Text 3"/>
          <p:cNvSpPr/>
          <p:nvPr/>
        </p:nvSpPr>
        <p:spPr>
          <a:xfrm>
            <a:off x="1691640" y="164592"/>
            <a:ext cx="7132320" cy="365760"/>
          </a:xfrm>
          <a:prstGeom prst="rect">
            <a:avLst/>
          </a:prstGeom>
          <a:noFill/>
          <a:ln/>
        </p:spPr>
        <p:txBody>
          <a:bodyPr wrap="square" rtlCol="0" anchor="ctr"/>
          <a:lstStyle/>
          <a:p>
            <a:pPr indent="0" marL="0">
              <a:buNone/>
            </a:pPr>
            <a:r>
              <a:rPr lang="en-US" sz="2200" b="1" dirty="0">
                <a:solidFill>
                  <a:srgbClr val="FFFFFF"/>
                </a:solidFill>
              </a:rPr>
              <a:t>Core Functionalities Implemented</a:t>
            </a:r>
            <a:endParaRPr lang="en-US" sz="2200" dirty="0"/>
          </a:p>
        </p:txBody>
      </p:sp>
      <p:sp>
        <p:nvSpPr>
          <p:cNvPr id="6" name="Shape 4"/>
          <p:cNvSpPr/>
          <p:nvPr/>
        </p:nvSpPr>
        <p:spPr>
          <a:xfrm>
            <a:off x="274320" y="685800"/>
            <a:ext cx="4206240" cy="1261872"/>
          </a:xfrm>
          <a:prstGeom prst="rect">
            <a:avLst/>
          </a:prstGeom>
          <a:solidFill>
            <a:srgbClr val="162536"/>
          </a:solidFill>
          <a:ln w="12700">
            <a:solidFill>
              <a:srgbClr val="27AE60"/>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384048" y="1033272"/>
            <a:ext cx="457200" cy="457200"/>
          </a:xfrm>
          <a:prstGeom prst="ellipse">
            <a:avLst/>
          </a:prstGeom>
          <a:solidFill>
            <a:srgbClr val="27AE60"/>
          </a:solidFill>
          <a:ln w="12700">
            <a:solidFill>
              <a:srgbClr val="27AE60"/>
            </a:solidFill>
            <a:prstDash val="solid"/>
          </a:ln>
        </p:spPr>
      </p:sp>
      <p:sp>
        <p:nvSpPr>
          <p:cNvPr id="8" name="Text 6"/>
          <p:cNvSpPr/>
          <p:nvPr/>
        </p:nvSpPr>
        <p:spPr>
          <a:xfrm>
            <a:off x="384048" y="10332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9" name="Text 7"/>
          <p:cNvSpPr/>
          <p:nvPr/>
        </p:nvSpPr>
        <p:spPr>
          <a:xfrm>
            <a:off x="932688" y="758952"/>
            <a:ext cx="3429000" cy="411480"/>
          </a:xfrm>
          <a:prstGeom prst="rect">
            <a:avLst/>
          </a:prstGeom>
          <a:noFill/>
          <a:ln/>
        </p:spPr>
        <p:txBody>
          <a:bodyPr wrap="square" rtlCol="0" anchor="ctr"/>
          <a:lstStyle/>
          <a:p>
            <a:pPr indent="0" marL="0">
              <a:buNone/>
            </a:pPr>
            <a:r>
              <a:rPr lang="en-US" sz="1250" b="1" dirty="0">
                <a:solidFill>
                  <a:srgbClr val="FFFFFF"/>
                </a:solidFill>
              </a:rPr>
              <a:t>🔡  Layout-Aware OCR</a:t>
            </a:r>
            <a:endParaRPr lang="en-US" sz="1250" dirty="0"/>
          </a:p>
        </p:txBody>
      </p:sp>
      <p:sp>
        <p:nvSpPr>
          <p:cNvPr id="10" name="Text 8"/>
          <p:cNvSpPr/>
          <p:nvPr/>
        </p:nvSpPr>
        <p:spPr>
          <a:xfrm>
            <a:off x="932688" y="1188720"/>
            <a:ext cx="3429000" cy="640080"/>
          </a:xfrm>
          <a:prstGeom prst="rect">
            <a:avLst/>
          </a:prstGeom>
          <a:noFill/>
          <a:ln/>
        </p:spPr>
        <p:txBody>
          <a:bodyPr wrap="square" rtlCol="0" anchor="ctr"/>
          <a:lstStyle/>
          <a:p>
            <a:pPr indent="0" marL="0">
              <a:buNone/>
            </a:pPr>
            <a:r>
              <a:rPr lang="en-US" sz="1050" dirty="0">
                <a:solidFill>
                  <a:srgbClr val="B0C4D8"/>
                </a:solidFill>
              </a:rPr>
              <a:t>Advanced Tesseract text extraction preserving document structure</a:t>
            </a:r>
            <a:endParaRPr lang="en-US" sz="1050" dirty="0"/>
          </a:p>
        </p:txBody>
      </p:sp>
      <p:sp>
        <p:nvSpPr>
          <p:cNvPr id="11" name="Shape 9"/>
          <p:cNvSpPr/>
          <p:nvPr/>
        </p:nvSpPr>
        <p:spPr>
          <a:xfrm>
            <a:off x="4754880" y="685800"/>
            <a:ext cx="4206240" cy="1261872"/>
          </a:xfrm>
          <a:prstGeom prst="rect">
            <a:avLst/>
          </a:prstGeom>
          <a:solidFill>
            <a:srgbClr val="162536"/>
          </a:solidFill>
          <a:ln w="12700">
            <a:solidFill>
              <a:srgbClr val="27AE60"/>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4864608" y="1033272"/>
            <a:ext cx="457200" cy="457200"/>
          </a:xfrm>
          <a:prstGeom prst="ellipse">
            <a:avLst/>
          </a:prstGeom>
          <a:solidFill>
            <a:srgbClr val="27AE60"/>
          </a:solidFill>
          <a:ln w="12700">
            <a:solidFill>
              <a:srgbClr val="27AE60"/>
            </a:solidFill>
            <a:prstDash val="solid"/>
          </a:ln>
        </p:spPr>
      </p:sp>
      <p:sp>
        <p:nvSpPr>
          <p:cNvPr id="13" name="Text 11"/>
          <p:cNvSpPr/>
          <p:nvPr/>
        </p:nvSpPr>
        <p:spPr>
          <a:xfrm>
            <a:off x="4864608" y="10332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4" name="Text 12"/>
          <p:cNvSpPr/>
          <p:nvPr/>
        </p:nvSpPr>
        <p:spPr>
          <a:xfrm>
            <a:off x="5413248" y="758952"/>
            <a:ext cx="3429000" cy="411480"/>
          </a:xfrm>
          <a:prstGeom prst="rect">
            <a:avLst/>
          </a:prstGeom>
          <a:noFill/>
          <a:ln/>
        </p:spPr>
        <p:txBody>
          <a:bodyPr wrap="square" rtlCol="0" anchor="ctr"/>
          <a:lstStyle/>
          <a:p>
            <a:pPr indent="0" marL="0">
              <a:buNone/>
            </a:pPr>
            <a:r>
              <a:rPr lang="en-US" sz="1250" b="1" dirty="0">
                <a:solidFill>
                  <a:srgbClr val="FFFFFF"/>
                </a:solidFill>
              </a:rPr>
              <a:t>📝  AI Summarization Engine</a:t>
            </a:r>
            <a:endParaRPr lang="en-US" sz="1250" dirty="0"/>
          </a:p>
        </p:txBody>
      </p:sp>
      <p:sp>
        <p:nvSpPr>
          <p:cNvPr id="15" name="Text 13"/>
          <p:cNvSpPr/>
          <p:nvPr/>
        </p:nvSpPr>
        <p:spPr>
          <a:xfrm>
            <a:off x="5413248" y="1188720"/>
            <a:ext cx="3429000" cy="640080"/>
          </a:xfrm>
          <a:prstGeom prst="rect">
            <a:avLst/>
          </a:prstGeom>
          <a:noFill/>
          <a:ln/>
        </p:spPr>
        <p:txBody>
          <a:bodyPr wrap="square" rtlCol="0" anchor="ctr"/>
          <a:lstStyle/>
          <a:p>
            <a:pPr indent="0" marL="0">
              <a:buNone/>
            </a:pPr>
            <a:r>
              <a:rPr lang="en-US" sz="1050" dirty="0">
                <a:solidFill>
                  <a:srgbClr val="B0C4D8"/>
                </a:solidFill>
              </a:rPr>
              <a:t>Pegasus-XSUM generates Short, Medium &amp; Long summaries on-demand</a:t>
            </a:r>
            <a:endParaRPr lang="en-US" sz="1050" dirty="0"/>
          </a:p>
        </p:txBody>
      </p:sp>
      <p:sp>
        <p:nvSpPr>
          <p:cNvPr id="16" name="Shape 14"/>
          <p:cNvSpPr/>
          <p:nvPr/>
        </p:nvSpPr>
        <p:spPr>
          <a:xfrm>
            <a:off x="274320" y="2148840"/>
            <a:ext cx="4206240" cy="1261872"/>
          </a:xfrm>
          <a:prstGeom prst="rect">
            <a:avLst/>
          </a:prstGeom>
          <a:solidFill>
            <a:srgbClr val="162536"/>
          </a:solidFill>
          <a:ln w="12700">
            <a:solidFill>
              <a:srgbClr val="27AE60"/>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384048" y="2496312"/>
            <a:ext cx="457200" cy="457200"/>
          </a:xfrm>
          <a:prstGeom prst="ellipse">
            <a:avLst/>
          </a:prstGeom>
          <a:solidFill>
            <a:srgbClr val="27AE60"/>
          </a:solidFill>
          <a:ln w="12700">
            <a:solidFill>
              <a:srgbClr val="27AE60"/>
            </a:solidFill>
            <a:prstDash val="solid"/>
          </a:ln>
        </p:spPr>
      </p:sp>
      <p:sp>
        <p:nvSpPr>
          <p:cNvPr id="18" name="Text 16"/>
          <p:cNvSpPr/>
          <p:nvPr/>
        </p:nvSpPr>
        <p:spPr>
          <a:xfrm>
            <a:off x="384048" y="24963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9" name="Text 17"/>
          <p:cNvSpPr/>
          <p:nvPr/>
        </p:nvSpPr>
        <p:spPr>
          <a:xfrm>
            <a:off x="932688" y="2221992"/>
            <a:ext cx="3429000" cy="411480"/>
          </a:xfrm>
          <a:prstGeom prst="rect">
            <a:avLst/>
          </a:prstGeom>
          <a:noFill/>
          <a:ln/>
        </p:spPr>
        <p:txBody>
          <a:bodyPr wrap="square" rtlCol="0" anchor="ctr"/>
          <a:lstStyle/>
          <a:p>
            <a:pPr indent="0" marL="0">
              <a:buNone/>
            </a:pPr>
            <a:r>
              <a:rPr lang="en-US" sz="1250" b="1" dirty="0">
                <a:solidFill>
                  <a:srgbClr val="FFFFFF"/>
                </a:solidFill>
              </a:rPr>
              <a:t>🔍  Semantic Vector Search</a:t>
            </a:r>
            <a:endParaRPr lang="en-US" sz="1250" dirty="0"/>
          </a:p>
        </p:txBody>
      </p:sp>
      <p:sp>
        <p:nvSpPr>
          <p:cNvPr id="20" name="Text 18"/>
          <p:cNvSpPr/>
          <p:nvPr/>
        </p:nvSpPr>
        <p:spPr>
          <a:xfrm>
            <a:off x="932688" y="2651760"/>
            <a:ext cx="3429000" cy="640080"/>
          </a:xfrm>
          <a:prstGeom prst="rect">
            <a:avLst/>
          </a:prstGeom>
          <a:noFill/>
          <a:ln/>
        </p:spPr>
        <p:txBody>
          <a:bodyPr wrap="square" rtlCol="0" anchor="ctr"/>
          <a:lstStyle/>
          <a:p>
            <a:pPr indent="0" marL="0">
              <a:buNone/>
            </a:pPr>
            <a:r>
              <a:rPr lang="en-US" sz="1050" dirty="0">
                <a:solidFill>
                  <a:srgbClr val="B0C4D8"/>
                </a:solidFill>
              </a:rPr>
              <a:t>Sentence-Transformer embeddings enable meaning-based file retrieval</a:t>
            </a:r>
            <a:endParaRPr lang="en-US" sz="1050" dirty="0"/>
          </a:p>
        </p:txBody>
      </p:sp>
      <p:sp>
        <p:nvSpPr>
          <p:cNvPr id="21" name="Shape 19"/>
          <p:cNvSpPr/>
          <p:nvPr/>
        </p:nvSpPr>
        <p:spPr>
          <a:xfrm>
            <a:off x="4754880" y="2148840"/>
            <a:ext cx="4206240" cy="1261872"/>
          </a:xfrm>
          <a:prstGeom prst="rect">
            <a:avLst/>
          </a:prstGeom>
          <a:solidFill>
            <a:srgbClr val="162536"/>
          </a:solidFill>
          <a:ln w="12700">
            <a:solidFill>
              <a:srgbClr val="27AE60"/>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4864608" y="2496312"/>
            <a:ext cx="457200" cy="457200"/>
          </a:xfrm>
          <a:prstGeom prst="ellipse">
            <a:avLst/>
          </a:prstGeom>
          <a:solidFill>
            <a:srgbClr val="27AE60"/>
          </a:solidFill>
          <a:ln w="12700">
            <a:solidFill>
              <a:srgbClr val="27AE60"/>
            </a:solidFill>
            <a:prstDash val="solid"/>
          </a:ln>
        </p:spPr>
      </p:sp>
      <p:sp>
        <p:nvSpPr>
          <p:cNvPr id="23" name="Text 21"/>
          <p:cNvSpPr/>
          <p:nvPr/>
        </p:nvSpPr>
        <p:spPr>
          <a:xfrm>
            <a:off x="4864608" y="24963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4" name="Text 22"/>
          <p:cNvSpPr/>
          <p:nvPr/>
        </p:nvSpPr>
        <p:spPr>
          <a:xfrm>
            <a:off x="5413248" y="2221992"/>
            <a:ext cx="3429000" cy="411480"/>
          </a:xfrm>
          <a:prstGeom prst="rect">
            <a:avLst/>
          </a:prstGeom>
          <a:noFill/>
          <a:ln/>
        </p:spPr>
        <p:txBody>
          <a:bodyPr wrap="square" rtlCol="0" anchor="ctr"/>
          <a:lstStyle/>
          <a:p>
            <a:pPr indent="0" marL="0">
              <a:buNone/>
            </a:pPr>
            <a:r>
              <a:rPr lang="en-US" sz="1250" b="1" dirty="0">
                <a:solidFill>
                  <a:srgbClr val="FFFFFF"/>
                </a:solidFill>
              </a:rPr>
              <a:t>🏷  Auto-Tagging System</a:t>
            </a:r>
            <a:endParaRPr lang="en-US" sz="1250" dirty="0"/>
          </a:p>
        </p:txBody>
      </p:sp>
      <p:sp>
        <p:nvSpPr>
          <p:cNvPr id="25" name="Text 23"/>
          <p:cNvSpPr/>
          <p:nvPr/>
        </p:nvSpPr>
        <p:spPr>
          <a:xfrm>
            <a:off x="5413248" y="2651760"/>
            <a:ext cx="3429000" cy="640080"/>
          </a:xfrm>
          <a:prstGeom prst="rect">
            <a:avLst/>
          </a:prstGeom>
          <a:noFill/>
          <a:ln/>
        </p:spPr>
        <p:txBody>
          <a:bodyPr wrap="square" rtlCol="0" anchor="ctr"/>
          <a:lstStyle/>
          <a:p>
            <a:pPr indent="0" marL="0">
              <a:buNone/>
            </a:pPr>
            <a:r>
              <a:rPr lang="en-US" sz="1050" dirty="0">
                <a:solidFill>
                  <a:srgbClr val="B0C4D8"/>
                </a:solidFill>
              </a:rPr>
              <a:t>Intelligent content categorization with dynamic tag clusters</a:t>
            </a:r>
            <a:endParaRPr lang="en-US" sz="1050" dirty="0"/>
          </a:p>
        </p:txBody>
      </p:sp>
      <p:sp>
        <p:nvSpPr>
          <p:cNvPr id="26" name="Shape 24"/>
          <p:cNvSpPr/>
          <p:nvPr/>
        </p:nvSpPr>
        <p:spPr>
          <a:xfrm>
            <a:off x="274320" y="3611880"/>
            <a:ext cx="4206240" cy="1261872"/>
          </a:xfrm>
          <a:prstGeom prst="rect">
            <a:avLst/>
          </a:prstGeom>
          <a:solidFill>
            <a:srgbClr val="162536"/>
          </a:solidFill>
          <a:ln w="12700">
            <a:solidFill>
              <a:srgbClr val="27AE60"/>
            </a:solidFill>
            <a:prstDash val="solid"/>
          </a:ln>
          <a:effectLst>
            <a:outerShdw sx="100000" sy="100000" kx="0" ky="0" algn="bl" rotWithShape="0" blurRad="101600" dist="38100" dir="8100000">
              <a:srgbClr val="000000">
                <a:alpha val="25000"/>
              </a:srgbClr>
            </a:outerShdw>
          </a:effectLst>
        </p:spPr>
      </p:sp>
      <p:sp>
        <p:nvSpPr>
          <p:cNvPr id="27" name="Shape 25"/>
          <p:cNvSpPr/>
          <p:nvPr/>
        </p:nvSpPr>
        <p:spPr>
          <a:xfrm>
            <a:off x="384048" y="3959352"/>
            <a:ext cx="457200" cy="457200"/>
          </a:xfrm>
          <a:prstGeom prst="ellipse">
            <a:avLst/>
          </a:prstGeom>
          <a:solidFill>
            <a:srgbClr val="27AE60"/>
          </a:solidFill>
          <a:ln w="12700">
            <a:solidFill>
              <a:srgbClr val="27AE60"/>
            </a:solidFill>
            <a:prstDash val="solid"/>
          </a:ln>
        </p:spPr>
      </p:sp>
      <p:sp>
        <p:nvSpPr>
          <p:cNvPr id="28" name="Text 26"/>
          <p:cNvSpPr/>
          <p:nvPr/>
        </p:nvSpPr>
        <p:spPr>
          <a:xfrm>
            <a:off x="384048" y="39593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9" name="Text 27"/>
          <p:cNvSpPr/>
          <p:nvPr/>
        </p:nvSpPr>
        <p:spPr>
          <a:xfrm>
            <a:off x="932688" y="3685032"/>
            <a:ext cx="3429000" cy="411480"/>
          </a:xfrm>
          <a:prstGeom prst="rect">
            <a:avLst/>
          </a:prstGeom>
          <a:noFill/>
          <a:ln/>
        </p:spPr>
        <p:txBody>
          <a:bodyPr wrap="square" rtlCol="0" anchor="ctr"/>
          <a:lstStyle/>
          <a:p>
            <a:pPr indent="0" marL="0">
              <a:buNone/>
            </a:pPr>
            <a:r>
              <a:rPr lang="en-US" sz="1250" b="1" dirty="0">
                <a:solidFill>
                  <a:srgbClr val="FFFFFF"/>
                </a:solidFill>
              </a:rPr>
              <a:t>⚡  Duplicate Detection</a:t>
            </a:r>
            <a:endParaRPr lang="en-US" sz="1250" dirty="0"/>
          </a:p>
        </p:txBody>
      </p:sp>
      <p:sp>
        <p:nvSpPr>
          <p:cNvPr id="30" name="Text 28"/>
          <p:cNvSpPr/>
          <p:nvPr/>
        </p:nvSpPr>
        <p:spPr>
          <a:xfrm>
            <a:off x="932688" y="4114800"/>
            <a:ext cx="3429000" cy="640080"/>
          </a:xfrm>
          <a:prstGeom prst="rect">
            <a:avLst/>
          </a:prstGeom>
          <a:noFill/>
          <a:ln/>
        </p:spPr>
        <p:txBody>
          <a:bodyPr wrap="square" rtlCol="0" anchor="ctr"/>
          <a:lstStyle/>
          <a:p>
            <a:pPr indent="0" marL="0">
              <a:buNone/>
            </a:pPr>
            <a:r>
              <a:rPr lang="en-US" sz="1050" dirty="0">
                <a:solidFill>
                  <a:srgbClr val="B0C4D8"/>
                </a:solidFill>
              </a:rPr>
              <a:t>Embedding-based similarity scoring to identify near-duplicate files</a:t>
            </a:r>
            <a:endParaRPr lang="en-US" sz="1050" dirty="0"/>
          </a:p>
        </p:txBody>
      </p:sp>
      <p:sp>
        <p:nvSpPr>
          <p:cNvPr id="31" name="Shape 29"/>
          <p:cNvSpPr/>
          <p:nvPr/>
        </p:nvSpPr>
        <p:spPr>
          <a:xfrm>
            <a:off x="4754880" y="3611880"/>
            <a:ext cx="4206240" cy="1261872"/>
          </a:xfrm>
          <a:prstGeom prst="rect">
            <a:avLst/>
          </a:prstGeom>
          <a:solidFill>
            <a:srgbClr val="162536"/>
          </a:solidFill>
          <a:ln w="12700">
            <a:solidFill>
              <a:srgbClr val="27AE60"/>
            </a:solidFill>
            <a:prstDash val="solid"/>
          </a:ln>
          <a:effectLst>
            <a:outerShdw sx="100000" sy="100000" kx="0" ky="0" algn="bl" rotWithShape="0" blurRad="101600" dist="38100" dir="8100000">
              <a:srgbClr val="000000">
                <a:alpha val="25000"/>
              </a:srgbClr>
            </a:outerShdw>
          </a:effectLst>
        </p:spPr>
      </p:sp>
      <p:sp>
        <p:nvSpPr>
          <p:cNvPr id="32" name="Shape 30"/>
          <p:cNvSpPr/>
          <p:nvPr/>
        </p:nvSpPr>
        <p:spPr>
          <a:xfrm>
            <a:off x="4864608" y="3959352"/>
            <a:ext cx="457200" cy="457200"/>
          </a:xfrm>
          <a:prstGeom prst="ellipse">
            <a:avLst/>
          </a:prstGeom>
          <a:solidFill>
            <a:srgbClr val="27AE60"/>
          </a:solidFill>
          <a:ln w="12700">
            <a:solidFill>
              <a:srgbClr val="27AE60"/>
            </a:solidFill>
            <a:prstDash val="solid"/>
          </a:ln>
        </p:spPr>
      </p:sp>
      <p:sp>
        <p:nvSpPr>
          <p:cNvPr id="33" name="Text 31"/>
          <p:cNvSpPr/>
          <p:nvPr/>
        </p:nvSpPr>
        <p:spPr>
          <a:xfrm>
            <a:off x="4864608" y="39593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34" name="Text 32"/>
          <p:cNvSpPr/>
          <p:nvPr/>
        </p:nvSpPr>
        <p:spPr>
          <a:xfrm>
            <a:off x="5413248" y="3685032"/>
            <a:ext cx="3429000" cy="411480"/>
          </a:xfrm>
          <a:prstGeom prst="rect">
            <a:avLst/>
          </a:prstGeom>
          <a:noFill/>
          <a:ln/>
        </p:spPr>
        <p:txBody>
          <a:bodyPr wrap="square" rtlCol="0" anchor="ctr"/>
          <a:lstStyle/>
          <a:p>
            <a:pPr indent="0" marL="0">
              <a:buNone/>
            </a:pPr>
            <a:r>
              <a:rPr lang="en-US" sz="1250" b="1" dirty="0">
                <a:solidFill>
                  <a:srgbClr val="FFFFFF"/>
                </a:solidFill>
              </a:rPr>
              <a:t>🔗  File Merge Protocol</a:t>
            </a:r>
            <a:endParaRPr lang="en-US" sz="1250" dirty="0"/>
          </a:p>
        </p:txBody>
      </p:sp>
      <p:sp>
        <p:nvSpPr>
          <p:cNvPr id="35" name="Text 33"/>
          <p:cNvSpPr/>
          <p:nvPr/>
        </p:nvSpPr>
        <p:spPr>
          <a:xfrm>
            <a:off x="5413248" y="4114800"/>
            <a:ext cx="3429000" cy="640080"/>
          </a:xfrm>
          <a:prstGeom prst="rect">
            <a:avLst/>
          </a:prstGeom>
          <a:noFill/>
          <a:ln/>
        </p:spPr>
        <p:txBody>
          <a:bodyPr wrap="square" rtlCol="0" anchor="ctr"/>
          <a:lstStyle/>
          <a:p>
            <a:pPr indent="0" marL="0">
              <a:buNone/>
            </a:pPr>
            <a:r>
              <a:rPr lang="en-US" sz="1050" dirty="0">
                <a:solidFill>
                  <a:srgbClr val="B0C4D8"/>
                </a:solidFill>
              </a:rPr>
              <a:t>Chronological assembly of fragmented document segments</a:t>
            </a:r>
            <a:endParaRPr lang="en-US" sz="1050" dirty="0"/>
          </a:p>
        </p:txBody>
      </p:sp>
      <p:sp>
        <p:nvSpPr>
          <p:cNvPr id="36" name="Shape 34"/>
          <p:cNvSpPr/>
          <p:nvPr/>
        </p:nvSpPr>
        <p:spPr>
          <a:xfrm>
            <a:off x="0" y="4983480"/>
            <a:ext cx="9144000" cy="164592"/>
          </a:xfrm>
          <a:prstGeom prst="rect">
            <a:avLst/>
          </a:prstGeom>
          <a:solidFill>
            <a:srgbClr val="1B263B"/>
          </a:solidFill>
          <a:ln w="12700">
            <a:solidFill>
              <a:srgbClr val="1B263B"/>
            </a:solidFill>
            <a:prstDash val="solid"/>
          </a:ln>
        </p:spPr>
      </p:sp>
      <p:sp>
        <p:nvSpPr>
          <p:cNvPr id="37" name="Text 35"/>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AI File Management System  |  Ben Sebastian Joseph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E8"/>
          </a:solidFill>
          <a:ln w="12700">
            <a:solidFill>
              <a:srgbClr val="00A8E8"/>
            </a:solidFill>
            <a:prstDash val="solid"/>
          </a:ln>
        </p:spPr>
      </p:sp>
      <p:sp>
        <p:nvSpPr>
          <p:cNvPr id="3" name="Shape 1"/>
          <p:cNvSpPr/>
          <p:nvPr/>
        </p:nvSpPr>
        <p:spPr>
          <a:xfrm>
            <a:off x="457200" y="182880"/>
            <a:ext cx="1097280" cy="274320"/>
          </a:xfrm>
          <a:prstGeom prst="rect">
            <a:avLst/>
          </a:prstGeom>
          <a:solidFill>
            <a:srgbClr val="9B59B6"/>
          </a:solidFill>
          <a:ln w="12700">
            <a:solidFill>
              <a:srgbClr val="9B59B6"/>
            </a:solidFill>
            <a:prstDash val="solid"/>
          </a:ln>
        </p:spPr>
      </p:sp>
      <p:sp>
        <p:nvSpPr>
          <p:cNvPr id="4" name="Text 2"/>
          <p:cNvSpPr/>
          <p:nvPr/>
        </p:nvSpPr>
        <p:spPr>
          <a:xfrm>
            <a:off x="457200" y="18288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rPr>
              <a:t>PHASE 3</a:t>
            </a:r>
            <a:endParaRPr lang="en-US" sz="900" dirty="0"/>
          </a:p>
        </p:txBody>
      </p:sp>
      <p:sp>
        <p:nvSpPr>
          <p:cNvPr id="5" name="Text 3"/>
          <p:cNvSpPr/>
          <p:nvPr/>
        </p:nvSpPr>
        <p:spPr>
          <a:xfrm>
            <a:off x="1691640" y="164592"/>
            <a:ext cx="7132320" cy="365760"/>
          </a:xfrm>
          <a:prstGeom prst="rect">
            <a:avLst/>
          </a:prstGeom>
          <a:noFill/>
          <a:ln/>
        </p:spPr>
        <p:txBody>
          <a:bodyPr wrap="square" rtlCol="0" anchor="ctr"/>
          <a:lstStyle/>
          <a:p>
            <a:pPr indent="0" marL="0">
              <a:buNone/>
            </a:pPr>
            <a:r>
              <a:rPr lang="en-US" sz="2200" b="1" dirty="0">
                <a:solidFill>
                  <a:srgbClr val="FFFFFF"/>
                </a:solidFill>
              </a:rPr>
              <a:t>Demonstration &amp; User Workflow</a:t>
            </a:r>
            <a:endParaRPr lang="en-US" sz="2200" dirty="0"/>
          </a:p>
        </p:txBody>
      </p:sp>
      <p:sp>
        <p:nvSpPr>
          <p:cNvPr id="6" name="Shape 4"/>
          <p:cNvSpPr/>
          <p:nvPr/>
        </p:nvSpPr>
        <p:spPr>
          <a:xfrm>
            <a:off x="137160" y="658368"/>
            <a:ext cx="1325880" cy="1417320"/>
          </a:xfrm>
          <a:prstGeom prst="rect">
            <a:avLst/>
          </a:prstGeom>
          <a:solidFill>
            <a:srgbClr val="162536"/>
          </a:solidFill>
          <a:ln w="25400">
            <a:solidFill>
              <a:srgbClr val="00A8E8"/>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137160" y="658368"/>
            <a:ext cx="1325880" cy="384048"/>
          </a:xfrm>
          <a:prstGeom prst="rect">
            <a:avLst/>
          </a:prstGeom>
          <a:solidFill>
            <a:srgbClr val="00A8E8">
              <a:alpha val="90000"/>
            </a:srgbClr>
          </a:solidFill>
          <a:ln w="12700">
            <a:solidFill>
              <a:srgbClr val="00A8E8"/>
            </a:solidFill>
            <a:prstDash val="solid"/>
          </a:ln>
        </p:spPr>
      </p:sp>
      <p:sp>
        <p:nvSpPr>
          <p:cNvPr id="8" name="Text 6"/>
          <p:cNvSpPr/>
          <p:nvPr/>
        </p:nvSpPr>
        <p:spPr>
          <a:xfrm>
            <a:off x="137160" y="658368"/>
            <a:ext cx="1325880" cy="384048"/>
          </a:xfrm>
          <a:prstGeom prst="rect">
            <a:avLst/>
          </a:prstGeom>
          <a:noFill/>
          <a:ln/>
        </p:spPr>
        <p:txBody>
          <a:bodyPr wrap="square" lIns="0" tIns="0" rIns="0" bIns="0" rtlCol="0" anchor="ctr"/>
          <a:lstStyle/>
          <a:p>
            <a:pPr algn="ctr" indent="0" marL="0">
              <a:buNone/>
            </a:pPr>
            <a:r>
              <a:rPr lang="en-US" sz="950" b="1" dirty="0">
                <a:solidFill>
                  <a:srgbClr val="FFFFFF"/>
                </a:solidFill>
              </a:rPr>
              <a:t>1. UPLOAD</a:t>
            </a:r>
            <a:endParaRPr lang="en-US" sz="950" dirty="0"/>
          </a:p>
        </p:txBody>
      </p:sp>
      <p:sp>
        <p:nvSpPr>
          <p:cNvPr id="9" name="Text 7"/>
          <p:cNvSpPr/>
          <p:nvPr/>
        </p:nvSpPr>
        <p:spPr>
          <a:xfrm>
            <a:off x="137160" y="1069848"/>
            <a:ext cx="13258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137160" y="1572768"/>
            <a:ext cx="1325880" cy="457200"/>
          </a:xfrm>
          <a:prstGeom prst="rect">
            <a:avLst/>
          </a:prstGeom>
          <a:noFill/>
          <a:ln/>
        </p:spPr>
        <p:txBody>
          <a:bodyPr wrap="square" rtlCol="0" anchor="ctr"/>
          <a:lstStyle/>
          <a:p>
            <a:pPr algn="ctr" indent="0" marL="0">
              <a:buNone/>
            </a:pPr>
            <a:r>
              <a:rPr lang="en-US" sz="800" dirty="0">
                <a:solidFill>
                  <a:srgbClr val="B0C4D8"/>
                </a:solidFill>
              </a:rPr>
              <a:t>User uploads PDF, DOCX, or image files to the platform</a:t>
            </a:r>
            <a:endParaRPr lang="en-US" sz="800" dirty="0"/>
          </a:p>
        </p:txBody>
      </p:sp>
      <p:sp>
        <p:nvSpPr>
          <p:cNvPr id="11" name="Text 9"/>
          <p:cNvSpPr/>
          <p:nvPr/>
        </p:nvSpPr>
        <p:spPr>
          <a:xfrm>
            <a:off x="1472184" y="1161288"/>
            <a:ext cx="146304" cy="365760"/>
          </a:xfrm>
          <a:prstGeom prst="rect">
            <a:avLst/>
          </a:prstGeom>
          <a:noFill/>
          <a:ln/>
        </p:spPr>
        <p:txBody>
          <a:bodyPr wrap="square" lIns="0" tIns="0" rIns="0" bIns="0" rtlCol="0" anchor="ctr"/>
          <a:lstStyle/>
          <a:p>
            <a:pPr algn="ctr" indent="0" marL="0">
              <a:buNone/>
            </a:pPr>
            <a:r>
              <a:rPr lang="en-US" sz="1400" dirty="0">
                <a:solidFill>
                  <a:srgbClr val="00A8E8"/>
                </a:solidFill>
              </a:rPr>
              <a:t>→</a:t>
            </a:r>
            <a:endParaRPr lang="en-US" sz="1400" dirty="0"/>
          </a:p>
        </p:txBody>
      </p:sp>
      <p:sp>
        <p:nvSpPr>
          <p:cNvPr id="12" name="Shape 10"/>
          <p:cNvSpPr/>
          <p:nvPr/>
        </p:nvSpPr>
        <p:spPr>
          <a:xfrm>
            <a:off x="1627632" y="658368"/>
            <a:ext cx="1325880" cy="1417320"/>
          </a:xfrm>
          <a:prstGeom prst="rect">
            <a:avLst/>
          </a:prstGeom>
          <a:solidFill>
            <a:srgbClr val="162536"/>
          </a:solidFill>
          <a:ln w="25400">
            <a:solidFill>
              <a:srgbClr val="F47B20"/>
            </a:solidFill>
            <a:prstDash val="solid"/>
          </a:ln>
          <a:effectLst>
            <a:outerShdw sx="100000" sy="100000" kx="0" ky="0" algn="bl" rotWithShape="0" blurRad="101600" dist="38100" dir="8100000">
              <a:srgbClr val="000000">
                <a:alpha val="25000"/>
              </a:srgbClr>
            </a:outerShdw>
          </a:effectLst>
        </p:spPr>
      </p:sp>
      <p:sp>
        <p:nvSpPr>
          <p:cNvPr id="13" name="Shape 11"/>
          <p:cNvSpPr/>
          <p:nvPr/>
        </p:nvSpPr>
        <p:spPr>
          <a:xfrm>
            <a:off x="1627632" y="658368"/>
            <a:ext cx="1325880" cy="384048"/>
          </a:xfrm>
          <a:prstGeom prst="rect">
            <a:avLst/>
          </a:prstGeom>
          <a:solidFill>
            <a:srgbClr val="F47B20">
              <a:alpha val="90000"/>
            </a:srgbClr>
          </a:solidFill>
          <a:ln w="12700">
            <a:solidFill>
              <a:srgbClr val="F47B20"/>
            </a:solidFill>
            <a:prstDash val="solid"/>
          </a:ln>
        </p:spPr>
      </p:sp>
      <p:sp>
        <p:nvSpPr>
          <p:cNvPr id="14" name="Text 12"/>
          <p:cNvSpPr/>
          <p:nvPr/>
        </p:nvSpPr>
        <p:spPr>
          <a:xfrm>
            <a:off x="1627632" y="658368"/>
            <a:ext cx="1325880" cy="384048"/>
          </a:xfrm>
          <a:prstGeom prst="rect">
            <a:avLst/>
          </a:prstGeom>
          <a:noFill/>
          <a:ln/>
        </p:spPr>
        <p:txBody>
          <a:bodyPr wrap="square" lIns="0" tIns="0" rIns="0" bIns="0" rtlCol="0" anchor="ctr"/>
          <a:lstStyle/>
          <a:p>
            <a:pPr algn="ctr" indent="0" marL="0">
              <a:buNone/>
            </a:pPr>
            <a:r>
              <a:rPr lang="en-US" sz="950" b="1" dirty="0">
                <a:solidFill>
                  <a:srgbClr val="FFFFFF"/>
                </a:solidFill>
              </a:rPr>
              <a:t>2. PROCESS</a:t>
            </a:r>
            <a:endParaRPr lang="en-US" sz="950" dirty="0"/>
          </a:p>
        </p:txBody>
      </p:sp>
      <p:sp>
        <p:nvSpPr>
          <p:cNvPr id="15" name="Text 13"/>
          <p:cNvSpPr/>
          <p:nvPr/>
        </p:nvSpPr>
        <p:spPr>
          <a:xfrm>
            <a:off x="1627632" y="1069848"/>
            <a:ext cx="13258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1627632" y="1572768"/>
            <a:ext cx="1325880" cy="457200"/>
          </a:xfrm>
          <a:prstGeom prst="rect">
            <a:avLst/>
          </a:prstGeom>
          <a:noFill/>
          <a:ln/>
        </p:spPr>
        <p:txBody>
          <a:bodyPr wrap="square" rtlCol="0" anchor="ctr"/>
          <a:lstStyle/>
          <a:p>
            <a:pPr algn="ctr" indent="0" marL="0">
              <a:buNone/>
            </a:pPr>
            <a:r>
              <a:rPr lang="en-US" sz="800" dirty="0">
                <a:solidFill>
                  <a:srgbClr val="B0C4D8"/>
                </a:solidFill>
              </a:rPr>
              <a:t>Tesseract OCR extracts text with layout awareness</a:t>
            </a:r>
            <a:endParaRPr lang="en-US" sz="800" dirty="0"/>
          </a:p>
        </p:txBody>
      </p:sp>
      <p:sp>
        <p:nvSpPr>
          <p:cNvPr id="17" name="Text 15"/>
          <p:cNvSpPr/>
          <p:nvPr/>
        </p:nvSpPr>
        <p:spPr>
          <a:xfrm>
            <a:off x="2962656" y="1161288"/>
            <a:ext cx="146304" cy="365760"/>
          </a:xfrm>
          <a:prstGeom prst="rect">
            <a:avLst/>
          </a:prstGeom>
          <a:noFill/>
          <a:ln/>
        </p:spPr>
        <p:txBody>
          <a:bodyPr wrap="square" lIns="0" tIns="0" rIns="0" bIns="0" rtlCol="0" anchor="ctr"/>
          <a:lstStyle/>
          <a:p>
            <a:pPr algn="ctr" indent="0" marL="0">
              <a:buNone/>
            </a:pPr>
            <a:r>
              <a:rPr lang="en-US" sz="1400" dirty="0">
                <a:solidFill>
                  <a:srgbClr val="00A8E8"/>
                </a:solidFill>
              </a:rPr>
              <a:t>→</a:t>
            </a:r>
            <a:endParaRPr lang="en-US" sz="1400" dirty="0"/>
          </a:p>
        </p:txBody>
      </p:sp>
      <p:sp>
        <p:nvSpPr>
          <p:cNvPr id="18" name="Shape 16"/>
          <p:cNvSpPr/>
          <p:nvPr/>
        </p:nvSpPr>
        <p:spPr>
          <a:xfrm>
            <a:off x="3118104" y="658368"/>
            <a:ext cx="1325880" cy="1417320"/>
          </a:xfrm>
          <a:prstGeom prst="rect">
            <a:avLst/>
          </a:prstGeom>
          <a:solidFill>
            <a:srgbClr val="162536"/>
          </a:solidFill>
          <a:ln w="25400">
            <a:solidFill>
              <a:srgbClr val="9B59B6"/>
            </a:solidFill>
            <a:prstDash val="solid"/>
          </a:ln>
          <a:effectLst>
            <a:outerShdw sx="100000" sy="100000" kx="0" ky="0" algn="bl" rotWithShape="0" blurRad="101600" dist="38100" dir="8100000">
              <a:srgbClr val="000000">
                <a:alpha val="25000"/>
              </a:srgbClr>
            </a:outerShdw>
          </a:effectLst>
        </p:spPr>
      </p:sp>
      <p:sp>
        <p:nvSpPr>
          <p:cNvPr id="19" name="Shape 17"/>
          <p:cNvSpPr/>
          <p:nvPr/>
        </p:nvSpPr>
        <p:spPr>
          <a:xfrm>
            <a:off x="3118104" y="658368"/>
            <a:ext cx="1325880" cy="384048"/>
          </a:xfrm>
          <a:prstGeom prst="rect">
            <a:avLst/>
          </a:prstGeom>
          <a:solidFill>
            <a:srgbClr val="9B59B6">
              <a:alpha val="90000"/>
            </a:srgbClr>
          </a:solidFill>
          <a:ln w="12700">
            <a:solidFill>
              <a:srgbClr val="9B59B6"/>
            </a:solidFill>
            <a:prstDash val="solid"/>
          </a:ln>
        </p:spPr>
      </p:sp>
      <p:sp>
        <p:nvSpPr>
          <p:cNvPr id="20" name="Text 18"/>
          <p:cNvSpPr/>
          <p:nvPr/>
        </p:nvSpPr>
        <p:spPr>
          <a:xfrm>
            <a:off x="3118104" y="658368"/>
            <a:ext cx="1325880" cy="384048"/>
          </a:xfrm>
          <a:prstGeom prst="rect">
            <a:avLst/>
          </a:prstGeom>
          <a:noFill/>
          <a:ln/>
        </p:spPr>
        <p:txBody>
          <a:bodyPr wrap="square" lIns="0" tIns="0" rIns="0" bIns="0" rtlCol="0" anchor="ctr"/>
          <a:lstStyle/>
          <a:p>
            <a:pPr algn="ctr" indent="0" marL="0">
              <a:buNone/>
            </a:pPr>
            <a:r>
              <a:rPr lang="en-US" sz="950" b="1" dirty="0">
                <a:solidFill>
                  <a:srgbClr val="FFFFFF"/>
                </a:solidFill>
              </a:rPr>
              <a:t>3. SEARCH</a:t>
            </a:r>
            <a:endParaRPr lang="en-US" sz="950" dirty="0"/>
          </a:p>
        </p:txBody>
      </p:sp>
      <p:sp>
        <p:nvSpPr>
          <p:cNvPr id="21" name="Text 19"/>
          <p:cNvSpPr/>
          <p:nvPr/>
        </p:nvSpPr>
        <p:spPr>
          <a:xfrm>
            <a:off x="3118104" y="1069848"/>
            <a:ext cx="13258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3118104" y="1572768"/>
            <a:ext cx="1325880" cy="457200"/>
          </a:xfrm>
          <a:prstGeom prst="rect">
            <a:avLst/>
          </a:prstGeom>
          <a:noFill/>
          <a:ln/>
        </p:spPr>
        <p:txBody>
          <a:bodyPr wrap="square" rtlCol="0" anchor="ctr"/>
          <a:lstStyle/>
          <a:p>
            <a:pPr algn="ctr" indent="0" marL="0">
              <a:buNone/>
            </a:pPr>
            <a:r>
              <a:rPr lang="en-US" sz="800" dirty="0">
                <a:solidFill>
                  <a:srgbClr val="B0C4D8"/>
                </a:solidFill>
              </a:rPr>
              <a:t>Semantic vector search retrieves meaning-based results</a:t>
            </a:r>
            <a:endParaRPr lang="en-US" sz="800" dirty="0"/>
          </a:p>
        </p:txBody>
      </p:sp>
      <p:sp>
        <p:nvSpPr>
          <p:cNvPr id="23" name="Text 21"/>
          <p:cNvSpPr/>
          <p:nvPr/>
        </p:nvSpPr>
        <p:spPr>
          <a:xfrm>
            <a:off x="4453128" y="1161288"/>
            <a:ext cx="146304" cy="365760"/>
          </a:xfrm>
          <a:prstGeom prst="rect">
            <a:avLst/>
          </a:prstGeom>
          <a:noFill/>
          <a:ln/>
        </p:spPr>
        <p:txBody>
          <a:bodyPr wrap="square" lIns="0" tIns="0" rIns="0" bIns="0" rtlCol="0" anchor="ctr"/>
          <a:lstStyle/>
          <a:p>
            <a:pPr algn="ctr" indent="0" marL="0">
              <a:buNone/>
            </a:pPr>
            <a:r>
              <a:rPr lang="en-US" sz="1400" dirty="0">
                <a:solidFill>
                  <a:srgbClr val="00A8E8"/>
                </a:solidFill>
              </a:rPr>
              <a:t>→</a:t>
            </a:r>
            <a:endParaRPr lang="en-US" sz="1400" dirty="0"/>
          </a:p>
        </p:txBody>
      </p:sp>
      <p:sp>
        <p:nvSpPr>
          <p:cNvPr id="24" name="Shape 22"/>
          <p:cNvSpPr/>
          <p:nvPr/>
        </p:nvSpPr>
        <p:spPr>
          <a:xfrm>
            <a:off x="4608576" y="658368"/>
            <a:ext cx="1325880" cy="1417320"/>
          </a:xfrm>
          <a:prstGeom prst="rect">
            <a:avLst/>
          </a:prstGeom>
          <a:solidFill>
            <a:srgbClr val="162536"/>
          </a:solidFill>
          <a:ln w="25400">
            <a:solidFill>
              <a:srgbClr val="27AE60"/>
            </a:solidFill>
            <a:prstDash val="solid"/>
          </a:ln>
          <a:effectLst>
            <a:outerShdw sx="100000" sy="100000" kx="0" ky="0" algn="bl" rotWithShape="0" blurRad="101600" dist="38100" dir="8100000">
              <a:srgbClr val="000000">
                <a:alpha val="25000"/>
              </a:srgbClr>
            </a:outerShdw>
          </a:effectLst>
        </p:spPr>
      </p:sp>
      <p:sp>
        <p:nvSpPr>
          <p:cNvPr id="25" name="Shape 23"/>
          <p:cNvSpPr/>
          <p:nvPr/>
        </p:nvSpPr>
        <p:spPr>
          <a:xfrm>
            <a:off x="4608576" y="658368"/>
            <a:ext cx="1325880" cy="384048"/>
          </a:xfrm>
          <a:prstGeom prst="rect">
            <a:avLst/>
          </a:prstGeom>
          <a:solidFill>
            <a:srgbClr val="27AE60">
              <a:alpha val="90000"/>
            </a:srgbClr>
          </a:solidFill>
          <a:ln w="12700">
            <a:solidFill>
              <a:srgbClr val="27AE60"/>
            </a:solidFill>
            <a:prstDash val="solid"/>
          </a:ln>
        </p:spPr>
      </p:sp>
      <p:sp>
        <p:nvSpPr>
          <p:cNvPr id="26" name="Text 24"/>
          <p:cNvSpPr/>
          <p:nvPr/>
        </p:nvSpPr>
        <p:spPr>
          <a:xfrm>
            <a:off x="4608576" y="658368"/>
            <a:ext cx="1325880" cy="384048"/>
          </a:xfrm>
          <a:prstGeom prst="rect">
            <a:avLst/>
          </a:prstGeom>
          <a:noFill/>
          <a:ln/>
        </p:spPr>
        <p:txBody>
          <a:bodyPr wrap="square" lIns="0" tIns="0" rIns="0" bIns="0" rtlCol="0" anchor="ctr"/>
          <a:lstStyle/>
          <a:p>
            <a:pPr algn="ctr" indent="0" marL="0">
              <a:buNone/>
            </a:pPr>
            <a:r>
              <a:rPr lang="en-US" sz="950" b="1" dirty="0">
                <a:solidFill>
                  <a:srgbClr val="FFFFFF"/>
                </a:solidFill>
              </a:rPr>
              <a:t>4. COMPARE</a:t>
            </a:r>
            <a:endParaRPr lang="en-US" sz="950" dirty="0"/>
          </a:p>
        </p:txBody>
      </p:sp>
      <p:sp>
        <p:nvSpPr>
          <p:cNvPr id="27" name="Text 25"/>
          <p:cNvSpPr/>
          <p:nvPr/>
        </p:nvSpPr>
        <p:spPr>
          <a:xfrm>
            <a:off x="4608576" y="1069848"/>
            <a:ext cx="13258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8" name="Text 26"/>
          <p:cNvSpPr/>
          <p:nvPr/>
        </p:nvSpPr>
        <p:spPr>
          <a:xfrm>
            <a:off x="4608576" y="1572768"/>
            <a:ext cx="1325880" cy="457200"/>
          </a:xfrm>
          <a:prstGeom prst="rect">
            <a:avLst/>
          </a:prstGeom>
          <a:noFill/>
          <a:ln/>
        </p:spPr>
        <p:txBody>
          <a:bodyPr wrap="square" rtlCol="0" anchor="ctr"/>
          <a:lstStyle/>
          <a:p>
            <a:pPr algn="ctr" indent="0" marL="0">
              <a:buNone/>
            </a:pPr>
            <a:r>
              <a:rPr lang="en-US" sz="800" dirty="0">
                <a:solidFill>
                  <a:srgbClr val="B0C4D8"/>
                </a:solidFill>
              </a:rPr>
              <a:t>Similarity detection surfaces duplicate or related files</a:t>
            </a:r>
            <a:endParaRPr lang="en-US" sz="800" dirty="0"/>
          </a:p>
        </p:txBody>
      </p:sp>
      <p:sp>
        <p:nvSpPr>
          <p:cNvPr id="29" name="Text 27"/>
          <p:cNvSpPr/>
          <p:nvPr/>
        </p:nvSpPr>
        <p:spPr>
          <a:xfrm>
            <a:off x="5943600" y="1161288"/>
            <a:ext cx="146304" cy="365760"/>
          </a:xfrm>
          <a:prstGeom prst="rect">
            <a:avLst/>
          </a:prstGeom>
          <a:noFill/>
          <a:ln/>
        </p:spPr>
        <p:txBody>
          <a:bodyPr wrap="square" lIns="0" tIns="0" rIns="0" bIns="0" rtlCol="0" anchor="ctr"/>
          <a:lstStyle/>
          <a:p>
            <a:pPr algn="ctr" indent="0" marL="0">
              <a:buNone/>
            </a:pPr>
            <a:r>
              <a:rPr lang="en-US" sz="1400" dirty="0">
                <a:solidFill>
                  <a:srgbClr val="00A8E8"/>
                </a:solidFill>
              </a:rPr>
              <a:t>→</a:t>
            </a:r>
            <a:endParaRPr lang="en-US" sz="1400" dirty="0"/>
          </a:p>
        </p:txBody>
      </p:sp>
      <p:sp>
        <p:nvSpPr>
          <p:cNvPr id="30" name="Shape 28"/>
          <p:cNvSpPr/>
          <p:nvPr/>
        </p:nvSpPr>
        <p:spPr>
          <a:xfrm>
            <a:off x="6099048" y="658368"/>
            <a:ext cx="1325880" cy="1417320"/>
          </a:xfrm>
          <a:prstGeom prst="rect">
            <a:avLst/>
          </a:prstGeom>
          <a:solidFill>
            <a:srgbClr val="162536"/>
          </a:solidFill>
          <a:ln w="25400">
            <a:solidFill>
              <a:srgbClr val="E74C3C"/>
            </a:solidFill>
            <a:prstDash val="solid"/>
          </a:ln>
          <a:effectLst>
            <a:outerShdw sx="100000" sy="100000" kx="0" ky="0" algn="bl" rotWithShape="0" blurRad="101600" dist="38100" dir="8100000">
              <a:srgbClr val="000000">
                <a:alpha val="25000"/>
              </a:srgbClr>
            </a:outerShdw>
          </a:effectLst>
        </p:spPr>
      </p:sp>
      <p:sp>
        <p:nvSpPr>
          <p:cNvPr id="31" name="Shape 29"/>
          <p:cNvSpPr/>
          <p:nvPr/>
        </p:nvSpPr>
        <p:spPr>
          <a:xfrm>
            <a:off x="6099048" y="658368"/>
            <a:ext cx="1325880" cy="384048"/>
          </a:xfrm>
          <a:prstGeom prst="rect">
            <a:avLst/>
          </a:prstGeom>
          <a:solidFill>
            <a:srgbClr val="E74C3C">
              <a:alpha val="90000"/>
            </a:srgbClr>
          </a:solidFill>
          <a:ln w="12700">
            <a:solidFill>
              <a:srgbClr val="E74C3C"/>
            </a:solidFill>
            <a:prstDash val="solid"/>
          </a:ln>
        </p:spPr>
      </p:sp>
      <p:sp>
        <p:nvSpPr>
          <p:cNvPr id="32" name="Text 30"/>
          <p:cNvSpPr/>
          <p:nvPr/>
        </p:nvSpPr>
        <p:spPr>
          <a:xfrm>
            <a:off x="6099048" y="658368"/>
            <a:ext cx="1325880" cy="384048"/>
          </a:xfrm>
          <a:prstGeom prst="rect">
            <a:avLst/>
          </a:prstGeom>
          <a:noFill/>
          <a:ln/>
        </p:spPr>
        <p:txBody>
          <a:bodyPr wrap="square" lIns="0" tIns="0" rIns="0" bIns="0" rtlCol="0" anchor="ctr"/>
          <a:lstStyle/>
          <a:p>
            <a:pPr algn="ctr" indent="0" marL="0">
              <a:buNone/>
            </a:pPr>
            <a:r>
              <a:rPr lang="en-US" sz="950" b="1" dirty="0">
                <a:solidFill>
                  <a:srgbClr val="FFFFFF"/>
                </a:solidFill>
              </a:rPr>
              <a:t>5. MERGE</a:t>
            </a:r>
            <a:endParaRPr lang="en-US" sz="950" dirty="0"/>
          </a:p>
        </p:txBody>
      </p:sp>
      <p:sp>
        <p:nvSpPr>
          <p:cNvPr id="33" name="Text 31"/>
          <p:cNvSpPr/>
          <p:nvPr/>
        </p:nvSpPr>
        <p:spPr>
          <a:xfrm>
            <a:off x="6099048" y="1069848"/>
            <a:ext cx="13258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4" name="Text 32"/>
          <p:cNvSpPr/>
          <p:nvPr/>
        </p:nvSpPr>
        <p:spPr>
          <a:xfrm>
            <a:off x="6099048" y="1572768"/>
            <a:ext cx="1325880" cy="457200"/>
          </a:xfrm>
          <a:prstGeom prst="rect">
            <a:avLst/>
          </a:prstGeom>
          <a:noFill/>
          <a:ln/>
        </p:spPr>
        <p:txBody>
          <a:bodyPr wrap="square" rtlCol="0" anchor="ctr"/>
          <a:lstStyle/>
          <a:p>
            <a:pPr algn="ctr" indent="0" marL="0">
              <a:buNone/>
            </a:pPr>
            <a:r>
              <a:rPr lang="en-US" sz="800" dirty="0">
                <a:solidFill>
                  <a:srgbClr val="B0C4D8"/>
                </a:solidFill>
              </a:rPr>
              <a:t>Fragmented documents assembled chronologically</a:t>
            </a:r>
            <a:endParaRPr lang="en-US" sz="800" dirty="0"/>
          </a:p>
        </p:txBody>
      </p:sp>
      <p:sp>
        <p:nvSpPr>
          <p:cNvPr id="35" name="Text 33"/>
          <p:cNvSpPr/>
          <p:nvPr/>
        </p:nvSpPr>
        <p:spPr>
          <a:xfrm>
            <a:off x="7434072" y="1161288"/>
            <a:ext cx="146304" cy="365760"/>
          </a:xfrm>
          <a:prstGeom prst="rect">
            <a:avLst/>
          </a:prstGeom>
          <a:noFill/>
          <a:ln/>
        </p:spPr>
        <p:txBody>
          <a:bodyPr wrap="square" lIns="0" tIns="0" rIns="0" bIns="0" rtlCol="0" anchor="ctr"/>
          <a:lstStyle/>
          <a:p>
            <a:pPr algn="ctr" indent="0" marL="0">
              <a:buNone/>
            </a:pPr>
            <a:r>
              <a:rPr lang="en-US" sz="1400" dirty="0">
                <a:solidFill>
                  <a:srgbClr val="00A8E8"/>
                </a:solidFill>
              </a:rPr>
              <a:t>→</a:t>
            </a:r>
            <a:endParaRPr lang="en-US" sz="1400" dirty="0"/>
          </a:p>
        </p:txBody>
      </p:sp>
      <p:sp>
        <p:nvSpPr>
          <p:cNvPr id="36" name="Shape 34"/>
          <p:cNvSpPr/>
          <p:nvPr/>
        </p:nvSpPr>
        <p:spPr>
          <a:xfrm>
            <a:off x="7589520" y="658368"/>
            <a:ext cx="1325880" cy="1417320"/>
          </a:xfrm>
          <a:prstGeom prst="rect">
            <a:avLst/>
          </a:prstGeom>
          <a:solidFill>
            <a:srgbClr val="162536"/>
          </a:solidFill>
          <a:ln w="25400">
            <a:solidFill>
              <a:srgbClr val="F39C12"/>
            </a:solidFill>
            <a:prstDash val="solid"/>
          </a:ln>
          <a:effectLst>
            <a:outerShdw sx="100000" sy="100000" kx="0" ky="0" algn="bl" rotWithShape="0" blurRad="101600" dist="38100" dir="8100000">
              <a:srgbClr val="000000">
                <a:alpha val="25000"/>
              </a:srgbClr>
            </a:outerShdw>
          </a:effectLst>
        </p:spPr>
      </p:sp>
      <p:sp>
        <p:nvSpPr>
          <p:cNvPr id="37" name="Shape 35"/>
          <p:cNvSpPr/>
          <p:nvPr/>
        </p:nvSpPr>
        <p:spPr>
          <a:xfrm>
            <a:off x="7589520" y="658368"/>
            <a:ext cx="1325880" cy="384048"/>
          </a:xfrm>
          <a:prstGeom prst="rect">
            <a:avLst/>
          </a:prstGeom>
          <a:solidFill>
            <a:srgbClr val="F39C12">
              <a:alpha val="90000"/>
            </a:srgbClr>
          </a:solidFill>
          <a:ln w="12700">
            <a:solidFill>
              <a:srgbClr val="F39C12"/>
            </a:solidFill>
            <a:prstDash val="solid"/>
          </a:ln>
        </p:spPr>
      </p:sp>
      <p:sp>
        <p:nvSpPr>
          <p:cNvPr id="38" name="Text 36"/>
          <p:cNvSpPr/>
          <p:nvPr/>
        </p:nvSpPr>
        <p:spPr>
          <a:xfrm>
            <a:off x="7589520" y="658368"/>
            <a:ext cx="1325880" cy="384048"/>
          </a:xfrm>
          <a:prstGeom prst="rect">
            <a:avLst/>
          </a:prstGeom>
          <a:noFill/>
          <a:ln/>
        </p:spPr>
        <p:txBody>
          <a:bodyPr wrap="square" lIns="0" tIns="0" rIns="0" bIns="0" rtlCol="0" anchor="ctr"/>
          <a:lstStyle/>
          <a:p>
            <a:pPr algn="ctr" indent="0" marL="0">
              <a:buNone/>
            </a:pPr>
            <a:r>
              <a:rPr lang="en-US" sz="950" b="1" dirty="0">
                <a:solidFill>
                  <a:srgbClr val="FFFFFF"/>
                </a:solidFill>
              </a:rPr>
              <a:t>6. REWRITE</a:t>
            </a:r>
            <a:endParaRPr lang="en-US" sz="950" dirty="0"/>
          </a:p>
        </p:txBody>
      </p:sp>
      <p:sp>
        <p:nvSpPr>
          <p:cNvPr id="39" name="Text 37"/>
          <p:cNvSpPr/>
          <p:nvPr/>
        </p:nvSpPr>
        <p:spPr>
          <a:xfrm>
            <a:off x="7589520" y="1069848"/>
            <a:ext cx="13258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0" name="Text 38"/>
          <p:cNvSpPr/>
          <p:nvPr/>
        </p:nvSpPr>
        <p:spPr>
          <a:xfrm>
            <a:off x="7589520" y="1572768"/>
            <a:ext cx="1325880" cy="457200"/>
          </a:xfrm>
          <a:prstGeom prst="rect">
            <a:avLst/>
          </a:prstGeom>
          <a:noFill/>
          <a:ln/>
        </p:spPr>
        <p:txBody>
          <a:bodyPr wrap="square" rtlCol="0" anchor="ctr"/>
          <a:lstStyle/>
          <a:p>
            <a:pPr algn="ctr" indent="0" marL="0">
              <a:buNone/>
            </a:pPr>
            <a:r>
              <a:rPr lang="en-US" sz="800" dirty="0">
                <a:solidFill>
                  <a:srgbClr val="B0C4D8"/>
                </a:solidFill>
              </a:rPr>
              <a:t>Groq LLaMA chatbot extracts insights &amp; reformats output</a:t>
            </a:r>
            <a:endParaRPr lang="en-US" sz="800" dirty="0"/>
          </a:p>
        </p:txBody>
      </p:sp>
      <p:sp>
        <p:nvSpPr>
          <p:cNvPr id="41" name="Shape 39"/>
          <p:cNvSpPr/>
          <p:nvPr/>
        </p:nvSpPr>
        <p:spPr>
          <a:xfrm>
            <a:off x="274320" y="2331720"/>
            <a:ext cx="8595360" cy="502920"/>
          </a:xfrm>
          <a:prstGeom prst="rect">
            <a:avLst/>
          </a:prstGeom>
          <a:solidFill>
            <a:srgbClr val="1B263B"/>
          </a:solidFill>
          <a:ln w="12700">
            <a:solidFill>
              <a:srgbClr val="00A8E8"/>
            </a:solidFill>
            <a:prstDash val="solid"/>
          </a:ln>
        </p:spPr>
      </p:sp>
      <p:sp>
        <p:nvSpPr>
          <p:cNvPr id="42" name="Text 40"/>
          <p:cNvSpPr/>
          <p:nvPr/>
        </p:nvSpPr>
        <p:spPr>
          <a:xfrm>
            <a:off x="457200" y="2331720"/>
            <a:ext cx="2011680" cy="502920"/>
          </a:xfrm>
          <a:prstGeom prst="rect">
            <a:avLst/>
          </a:prstGeom>
          <a:noFill/>
          <a:ln/>
        </p:spPr>
        <p:txBody>
          <a:bodyPr wrap="square" rtlCol="0" anchor="ctr"/>
          <a:lstStyle/>
          <a:p>
            <a:pPr indent="0" marL="0">
              <a:buNone/>
            </a:pPr>
            <a:r>
              <a:rPr lang="en-US" sz="1100" b="1" dirty="0">
                <a:solidFill>
                  <a:srgbClr val="00A8E8"/>
                </a:solidFill>
              </a:rPr>
              <a:t>📤  EXPORT OPTIONS:</a:t>
            </a:r>
            <a:endParaRPr lang="en-US" sz="1100" dirty="0"/>
          </a:p>
        </p:txBody>
      </p:sp>
      <p:sp>
        <p:nvSpPr>
          <p:cNvPr id="43" name="Shape 41"/>
          <p:cNvSpPr/>
          <p:nvPr/>
        </p:nvSpPr>
        <p:spPr>
          <a:xfrm>
            <a:off x="2560320" y="2423160"/>
            <a:ext cx="822960" cy="292608"/>
          </a:xfrm>
          <a:prstGeom prst="rect">
            <a:avLst/>
          </a:prstGeom>
          <a:solidFill>
            <a:srgbClr val="F47B20">
              <a:alpha val="85000"/>
            </a:srgbClr>
          </a:solidFill>
          <a:ln w="12700">
            <a:solidFill>
              <a:srgbClr val="F47B20"/>
            </a:solidFill>
            <a:prstDash val="solid"/>
          </a:ln>
        </p:spPr>
      </p:sp>
      <p:sp>
        <p:nvSpPr>
          <p:cNvPr id="44" name="Text 42"/>
          <p:cNvSpPr/>
          <p:nvPr/>
        </p:nvSpPr>
        <p:spPr>
          <a:xfrm>
            <a:off x="2560320" y="242316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rPr>
              <a:t>TXT</a:t>
            </a:r>
            <a:endParaRPr lang="en-US" sz="1100" dirty="0"/>
          </a:p>
        </p:txBody>
      </p:sp>
      <p:sp>
        <p:nvSpPr>
          <p:cNvPr id="45" name="Shape 43"/>
          <p:cNvSpPr/>
          <p:nvPr/>
        </p:nvSpPr>
        <p:spPr>
          <a:xfrm>
            <a:off x="3566160" y="2423160"/>
            <a:ext cx="822960" cy="292608"/>
          </a:xfrm>
          <a:prstGeom prst="rect">
            <a:avLst/>
          </a:prstGeom>
          <a:solidFill>
            <a:srgbClr val="F47B20">
              <a:alpha val="85000"/>
            </a:srgbClr>
          </a:solidFill>
          <a:ln w="12700">
            <a:solidFill>
              <a:srgbClr val="F47B20"/>
            </a:solidFill>
            <a:prstDash val="solid"/>
          </a:ln>
        </p:spPr>
      </p:sp>
      <p:sp>
        <p:nvSpPr>
          <p:cNvPr id="46" name="Text 44"/>
          <p:cNvSpPr/>
          <p:nvPr/>
        </p:nvSpPr>
        <p:spPr>
          <a:xfrm>
            <a:off x="3566160" y="242316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rPr>
              <a:t>DOCX</a:t>
            </a:r>
            <a:endParaRPr lang="en-US" sz="1100" dirty="0"/>
          </a:p>
        </p:txBody>
      </p:sp>
      <p:sp>
        <p:nvSpPr>
          <p:cNvPr id="47" name="Shape 45"/>
          <p:cNvSpPr/>
          <p:nvPr/>
        </p:nvSpPr>
        <p:spPr>
          <a:xfrm>
            <a:off x="4572000" y="2423160"/>
            <a:ext cx="822960" cy="292608"/>
          </a:xfrm>
          <a:prstGeom prst="rect">
            <a:avLst/>
          </a:prstGeom>
          <a:solidFill>
            <a:srgbClr val="F47B20">
              <a:alpha val="85000"/>
            </a:srgbClr>
          </a:solidFill>
          <a:ln w="12700">
            <a:solidFill>
              <a:srgbClr val="F47B20"/>
            </a:solidFill>
            <a:prstDash val="solid"/>
          </a:ln>
        </p:spPr>
      </p:sp>
      <p:sp>
        <p:nvSpPr>
          <p:cNvPr id="48" name="Text 46"/>
          <p:cNvSpPr/>
          <p:nvPr/>
        </p:nvSpPr>
        <p:spPr>
          <a:xfrm>
            <a:off x="4572000" y="242316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rPr>
              <a:t>PDF</a:t>
            </a:r>
            <a:endParaRPr lang="en-US" sz="1100" dirty="0"/>
          </a:p>
        </p:txBody>
      </p:sp>
      <p:sp>
        <p:nvSpPr>
          <p:cNvPr id="49" name="Shape 47"/>
          <p:cNvSpPr/>
          <p:nvPr/>
        </p:nvSpPr>
        <p:spPr>
          <a:xfrm>
            <a:off x="274320" y="2971800"/>
            <a:ext cx="8595360" cy="1901952"/>
          </a:xfrm>
          <a:prstGeom prst="rect">
            <a:avLst/>
          </a:prstGeom>
          <a:solidFill>
            <a:srgbClr val="162536"/>
          </a:solidFill>
          <a:ln w="12700">
            <a:solidFill>
              <a:srgbClr val="9B59B6"/>
            </a:solidFill>
            <a:prstDash val="solid"/>
          </a:ln>
          <a:effectLst>
            <a:outerShdw sx="100000" sy="100000" kx="0" ky="0" algn="bl" rotWithShape="0" blurRad="101600" dist="38100" dir="8100000">
              <a:srgbClr val="000000">
                <a:alpha val="25000"/>
              </a:srgbClr>
            </a:outerShdw>
          </a:effectLst>
        </p:spPr>
      </p:sp>
      <p:sp>
        <p:nvSpPr>
          <p:cNvPr id="50" name="Shape 48"/>
          <p:cNvSpPr/>
          <p:nvPr/>
        </p:nvSpPr>
        <p:spPr>
          <a:xfrm>
            <a:off x="274320" y="2971800"/>
            <a:ext cx="54864" cy="457200"/>
          </a:xfrm>
          <a:prstGeom prst="rect">
            <a:avLst/>
          </a:prstGeom>
          <a:solidFill>
            <a:srgbClr val="00A8E8"/>
          </a:solidFill>
          <a:ln w="12700">
            <a:solidFill>
              <a:srgbClr val="00A8E8"/>
            </a:solidFill>
            <a:prstDash val="solid"/>
          </a:ln>
        </p:spPr>
      </p:sp>
      <p:sp>
        <p:nvSpPr>
          <p:cNvPr id="51" name="Text 49"/>
          <p:cNvSpPr/>
          <p:nvPr/>
        </p:nvSpPr>
        <p:spPr>
          <a:xfrm>
            <a:off x="457200" y="2999232"/>
            <a:ext cx="8229600" cy="402336"/>
          </a:xfrm>
          <a:prstGeom prst="rect">
            <a:avLst/>
          </a:prstGeom>
          <a:noFill/>
          <a:ln/>
        </p:spPr>
        <p:txBody>
          <a:bodyPr wrap="square" rtlCol="0" anchor="ctr"/>
          <a:lstStyle/>
          <a:p>
            <a:pPr indent="0" marL="0">
              <a:buNone/>
            </a:pPr>
            <a:r>
              <a:rPr lang="en-US" sz="1300" b="1" dirty="0">
                <a:solidFill>
                  <a:srgbClr val="9B59B6"/>
                </a:solidFill>
              </a:rPr>
              <a:t>💬  AI Chatbot Interface (Groq · LLaMA 3.3-70B)</a:t>
            </a:r>
            <a:endParaRPr lang="en-US" sz="1300" dirty="0"/>
          </a:p>
        </p:txBody>
      </p:sp>
      <p:sp>
        <p:nvSpPr>
          <p:cNvPr id="52" name="Text 50"/>
          <p:cNvSpPr/>
          <p:nvPr/>
        </p:nvSpPr>
        <p:spPr>
          <a:xfrm>
            <a:off x="457200" y="3456432"/>
            <a:ext cx="8229600" cy="1280160"/>
          </a:xfrm>
          <a:prstGeom prst="rect">
            <a:avLst/>
          </a:prstGeom>
          <a:noFill/>
          <a:ln/>
        </p:spPr>
        <p:txBody>
          <a:bodyPr wrap="square" rtlCol="0" anchor="ctr"/>
          <a:lstStyle/>
          <a:p>
            <a:pPr indent="0" marL="0">
              <a:lnSpc>
                <a:spcPct val="145000"/>
              </a:lnSpc>
              <a:buNone/>
            </a:pPr>
            <a:r>
              <a:rPr lang="en-US" sz="1150" dirty="0">
                <a:solidFill>
                  <a:srgbClr val="E8F4FC"/>
                </a:solidFill>
              </a:rPr>
              <a:t>Users can converse directly with their documents — ask questions, request rewrites, extract specific data points, and export insights in multiple formats. The chatbot is powered by blazing-fast Groq inference, enabling near real-time responses even on large documents.</a:t>
            </a:r>
            <a:endParaRPr lang="en-US" sz="1150" dirty="0"/>
          </a:p>
        </p:txBody>
      </p:sp>
      <p:sp>
        <p:nvSpPr>
          <p:cNvPr id="53" name="Shape 51"/>
          <p:cNvSpPr/>
          <p:nvPr/>
        </p:nvSpPr>
        <p:spPr>
          <a:xfrm>
            <a:off x="0" y="4983480"/>
            <a:ext cx="9144000" cy="164592"/>
          </a:xfrm>
          <a:prstGeom prst="rect">
            <a:avLst/>
          </a:prstGeom>
          <a:solidFill>
            <a:srgbClr val="1B263B"/>
          </a:solidFill>
          <a:ln w="12700">
            <a:solidFill>
              <a:srgbClr val="1B263B"/>
            </a:solidFill>
            <a:prstDash val="solid"/>
          </a:ln>
        </p:spPr>
      </p:sp>
      <p:sp>
        <p:nvSpPr>
          <p:cNvPr id="54" name="Text 52"/>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AI File Management System  |  Ben Sebastian Joseph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8E8"/>
          </a:solidFill>
          <a:ln w="12700">
            <a:solidFill>
              <a:srgbClr val="00A8E8"/>
            </a:solidFill>
            <a:prstDash val="solid"/>
          </a:ln>
        </p:spPr>
      </p:sp>
      <p:sp>
        <p:nvSpPr>
          <p:cNvPr id="3" name="Shape 1"/>
          <p:cNvSpPr/>
          <p:nvPr/>
        </p:nvSpPr>
        <p:spPr>
          <a:xfrm>
            <a:off x="457200" y="182880"/>
            <a:ext cx="1097280" cy="274320"/>
          </a:xfrm>
          <a:prstGeom prst="rect">
            <a:avLst/>
          </a:prstGeom>
          <a:solidFill>
            <a:srgbClr val="9B59B6"/>
          </a:solidFill>
          <a:ln w="12700">
            <a:solidFill>
              <a:srgbClr val="9B59B6"/>
            </a:solidFill>
            <a:prstDash val="solid"/>
          </a:ln>
        </p:spPr>
      </p:sp>
      <p:sp>
        <p:nvSpPr>
          <p:cNvPr id="4" name="Text 2"/>
          <p:cNvSpPr/>
          <p:nvPr/>
        </p:nvSpPr>
        <p:spPr>
          <a:xfrm>
            <a:off x="457200" y="18288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rPr>
              <a:t>PHASE 3</a:t>
            </a:r>
            <a:endParaRPr lang="en-US" sz="900" dirty="0"/>
          </a:p>
        </p:txBody>
      </p:sp>
      <p:sp>
        <p:nvSpPr>
          <p:cNvPr id="5" name="Text 3"/>
          <p:cNvSpPr/>
          <p:nvPr/>
        </p:nvSpPr>
        <p:spPr>
          <a:xfrm>
            <a:off x="1691640" y="164592"/>
            <a:ext cx="7132320" cy="365760"/>
          </a:xfrm>
          <a:prstGeom prst="rect">
            <a:avLst/>
          </a:prstGeom>
          <a:noFill/>
          <a:ln/>
        </p:spPr>
        <p:txBody>
          <a:bodyPr wrap="square" rtlCol="0" anchor="ctr"/>
          <a:lstStyle/>
          <a:p>
            <a:pPr indent="0" marL="0">
              <a:buNone/>
            </a:pPr>
            <a:r>
              <a:rPr lang="en-US" sz="2200" b="1" dirty="0">
                <a:solidFill>
                  <a:srgbClr val="FFFFFF"/>
                </a:solidFill>
              </a:rPr>
              <a:t>Validation, Testing &amp; Conclusion</a:t>
            </a:r>
            <a:endParaRPr lang="en-US" sz="2200" dirty="0"/>
          </a:p>
        </p:txBody>
      </p:sp>
      <p:sp>
        <p:nvSpPr>
          <p:cNvPr id="6" name="Shape 4"/>
          <p:cNvSpPr/>
          <p:nvPr/>
        </p:nvSpPr>
        <p:spPr>
          <a:xfrm>
            <a:off x="274320" y="658368"/>
            <a:ext cx="4251960" cy="2651760"/>
          </a:xfrm>
          <a:prstGeom prst="rect">
            <a:avLst/>
          </a:prstGeom>
          <a:solidFill>
            <a:srgbClr val="162536"/>
          </a:solidFill>
          <a:ln w="12700">
            <a:solidFill>
              <a:srgbClr val="00A8E8"/>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274320" y="658368"/>
            <a:ext cx="54864" cy="411480"/>
          </a:xfrm>
          <a:prstGeom prst="rect">
            <a:avLst/>
          </a:prstGeom>
          <a:solidFill>
            <a:srgbClr val="00A8E8"/>
          </a:solidFill>
          <a:ln w="12700">
            <a:solidFill>
              <a:srgbClr val="00A8E8"/>
            </a:solidFill>
            <a:prstDash val="solid"/>
          </a:ln>
        </p:spPr>
      </p:sp>
      <p:sp>
        <p:nvSpPr>
          <p:cNvPr id="8" name="Text 6"/>
          <p:cNvSpPr/>
          <p:nvPr/>
        </p:nvSpPr>
        <p:spPr>
          <a:xfrm>
            <a:off x="457200" y="676656"/>
            <a:ext cx="3931920" cy="374904"/>
          </a:xfrm>
          <a:prstGeom prst="rect">
            <a:avLst/>
          </a:prstGeom>
          <a:noFill/>
          <a:ln/>
        </p:spPr>
        <p:txBody>
          <a:bodyPr wrap="square" rtlCol="0" anchor="ctr"/>
          <a:lstStyle/>
          <a:p>
            <a:pPr indent="0" marL="0">
              <a:buNone/>
            </a:pPr>
            <a:r>
              <a:rPr lang="en-US" sz="1300" b="1" dirty="0">
                <a:solidFill>
                  <a:srgbClr val="00A8E8"/>
                </a:solidFill>
              </a:rPr>
              <a:t>✅  Validation &amp; Testing</a:t>
            </a:r>
            <a:endParaRPr lang="en-US" sz="1300" dirty="0"/>
          </a:p>
        </p:txBody>
      </p:sp>
      <p:sp>
        <p:nvSpPr>
          <p:cNvPr id="9" name="Shape 7"/>
          <p:cNvSpPr/>
          <p:nvPr/>
        </p:nvSpPr>
        <p:spPr>
          <a:xfrm>
            <a:off x="475488" y="1161288"/>
            <a:ext cx="201168" cy="201168"/>
          </a:xfrm>
          <a:prstGeom prst="ellipse">
            <a:avLst/>
          </a:prstGeom>
          <a:solidFill>
            <a:srgbClr val="27AE60"/>
          </a:solidFill>
          <a:ln w="12700">
            <a:solidFill>
              <a:srgbClr val="27AE60"/>
            </a:solidFill>
            <a:prstDash val="solid"/>
          </a:ln>
        </p:spPr>
      </p:sp>
      <p:sp>
        <p:nvSpPr>
          <p:cNvPr id="10" name="Text 8"/>
          <p:cNvSpPr/>
          <p:nvPr/>
        </p:nvSpPr>
        <p:spPr>
          <a:xfrm>
            <a:off x="475488" y="116128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11" name="Text 9"/>
          <p:cNvSpPr/>
          <p:nvPr/>
        </p:nvSpPr>
        <p:spPr>
          <a:xfrm>
            <a:off x="749808" y="1143000"/>
            <a:ext cx="3639312" cy="347472"/>
          </a:xfrm>
          <a:prstGeom prst="rect">
            <a:avLst/>
          </a:prstGeom>
          <a:noFill/>
          <a:ln/>
        </p:spPr>
        <p:txBody>
          <a:bodyPr wrap="square" rtlCol="0" anchor="ctr"/>
          <a:lstStyle/>
          <a:p>
            <a:pPr indent="0" marL="0">
              <a:buNone/>
            </a:pPr>
            <a:r>
              <a:rPr lang="en-US" sz="1100" dirty="0">
                <a:solidFill>
                  <a:srgbClr val="E8F4FC"/>
                </a:solidFill>
              </a:rPr>
              <a:t>OCR mapping tested on complex flowchart images</a:t>
            </a:r>
            <a:endParaRPr lang="en-US" sz="1100" dirty="0"/>
          </a:p>
        </p:txBody>
      </p:sp>
      <p:sp>
        <p:nvSpPr>
          <p:cNvPr id="12" name="Shape 10"/>
          <p:cNvSpPr/>
          <p:nvPr/>
        </p:nvSpPr>
        <p:spPr>
          <a:xfrm>
            <a:off x="475488" y="1563624"/>
            <a:ext cx="201168" cy="201168"/>
          </a:xfrm>
          <a:prstGeom prst="ellipse">
            <a:avLst/>
          </a:prstGeom>
          <a:solidFill>
            <a:srgbClr val="27AE60"/>
          </a:solidFill>
          <a:ln w="12700">
            <a:solidFill>
              <a:srgbClr val="27AE60"/>
            </a:solidFill>
            <a:prstDash val="solid"/>
          </a:ln>
        </p:spPr>
      </p:sp>
      <p:sp>
        <p:nvSpPr>
          <p:cNvPr id="13" name="Text 11"/>
          <p:cNvSpPr/>
          <p:nvPr/>
        </p:nvSpPr>
        <p:spPr>
          <a:xfrm>
            <a:off x="475488" y="156362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14" name="Text 12"/>
          <p:cNvSpPr/>
          <p:nvPr/>
        </p:nvSpPr>
        <p:spPr>
          <a:xfrm>
            <a:off x="749808" y="1545336"/>
            <a:ext cx="3639312" cy="347472"/>
          </a:xfrm>
          <a:prstGeom prst="rect">
            <a:avLst/>
          </a:prstGeom>
          <a:noFill/>
          <a:ln/>
        </p:spPr>
        <p:txBody>
          <a:bodyPr wrap="square" rtlCol="0" anchor="ctr"/>
          <a:lstStyle/>
          <a:p>
            <a:pPr indent="0" marL="0">
              <a:buNone/>
            </a:pPr>
            <a:r>
              <a:rPr lang="en-US" sz="1100" dirty="0">
                <a:solidFill>
                  <a:srgbClr val="E8F4FC"/>
                </a:solidFill>
              </a:rPr>
              <a:t>Semantic search retrieval accuracy validated</a:t>
            </a:r>
            <a:endParaRPr lang="en-US" sz="1100" dirty="0"/>
          </a:p>
        </p:txBody>
      </p:sp>
      <p:sp>
        <p:nvSpPr>
          <p:cNvPr id="15" name="Shape 13"/>
          <p:cNvSpPr/>
          <p:nvPr/>
        </p:nvSpPr>
        <p:spPr>
          <a:xfrm>
            <a:off x="475488" y="1965960"/>
            <a:ext cx="201168" cy="201168"/>
          </a:xfrm>
          <a:prstGeom prst="ellipse">
            <a:avLst/>
          </a:prstGeom>
          <a:solidFill>
            <a:srgbClr val="27AE60"/>
          </a:solidFill>
          <a:ln w="12700">
            <a:solidFill>
              <a:srgbClr val="27AE60"/>
            </a:solidFill>
            <a:prstDash val="solid"/>
          </a:ln>
        </p:spPr>
      </p:sp>
      <p:sp>
        <p:nvSpPr>
          <p:cNvPr id="16" name="Text 14"/>
          <p:cNvSpPr/>
          <p:nvPr/>
        </p:nvSpPr>
        <p:spPr>
          <a:xfrm>
            <a:off x="475488" y="196596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17" name="Text 15"/>
          <p:cNvSpPr/>
          <p:nvPr/>
        </p:nvSpPr>
        <p:spPr>
          <a:xfrm>
            <a:off x="749808" y="1947672"/>
            <a:ext cx="3639312" cy="347472"/>
          </a:xfrm>
          <a:prstGeom prst="rect">
            <a:avLst/>
          </a:prstGeom>
          <a:noFill/>
          <a:ln/>
        </p:spPr>
        <p:txBody>
          <a:bodyPr wrap="square" rtlCol="0" anchor="ctr"/>
          <a:lstStyle/>
          <a:p>
            <a:pPr indent="0" marL="0">
              <a:buNone/>
            </a:pPr>
            <a:r>
              <a:rPr lang="en-US" sz="1100" dirty="0">
                <a:solidFill>
                  <a:srgbClr val="E8F4FC"/>
                </a:solidFill>
              </a:rPr>
              <a:t>High-threshold deduplication logic verified</a:t>
            </a:r>
            <a:endParaRPr lang="en-US" sz="1100" dirty="0"/>
          </a:p>
        </p:txBody>
      </p:sp>
      <p:sp>
        <p:nvSpPr>
          <p:cNvPr id="18" name="Shape 16"/>
          <p:cNvSpPr/>
          <p:nvPr/>
        </p:nvSpPr>
        <p:spPr>
          <a:xfrm>
            <a:off x="475488" y="2368296"/>
            <a:ext cx="201168" cy="201168"/>
          </a:xfrm>
          <a:prstGeom prst="ellipse">
            <a:avLst/>
          </a:prstGeom>
          <a:solidFill>
            <a:srgbClr val="27AE60"/>
          </a:solidFill>
          <a:ln w="12700">
            <a:solidFill>
              <a:srgbClr val="27AE60"/>
            </a:solidFill>
            <a:prstDash val="solid"/>
          </a:ln>
        </p:spPr>
      </p:sp>
      <p:sp>
        <p:nvSpPr>
          <p:cNvPr id="19" name="Text 17"/>
          <p:cNvSpPr/>
          <p:nvPr/>
        </p:nvSpPr>
        <p:spPr>
          <a:xfrm>
            <a:off x="475488" y="23682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20" name="Text 18"/>
          <p:cNvSpPr/>
          <p:nvPr/>
        </p:nvSpPr>
        <p:spPr>
          <a:xfrm>
            <a:off x="749808" y="2350008"/>
            <a:ext cx="3639312" cy="347472"/>
          </a:xfrm>
          <a:prstGeom prst="rect">
            <a:avLst/>
          </a:prstGeom>
          <a:noFill/>
          <a:ln/>
        </p:spPr>
        <p:txBody>
          <a:bodyPr wrap="square" rtlCol="0" anchor="ctr"/>
          <a:lstStyle/>
          <a:p>
            <a:pPr indent="0" marL="0">
              <a:buNone/>
            </a:pPr>
            <a:r>
              <a:rPr lang="en-US" sz="1100" dirty="0">
                <a:solidFill>
                  <a:srgbClr val="E8F4FC"/>
                </a:solidFill>
              </a:rPr>
              <a:t>FastAPI ↔ Streamlit ↔ LLM integration confirmed</a:t>
            </a:r>
            <a:endParaRPr lang="en-US" sz="1100" dirty="0"/>
          </a:p>
        </p:txBody>
      </p:sp>
      <p:sp>
        <p:nvSpPr>
          <p:cNvPr id="21" name="Shape 19"/>
          <p:cNvSpPr/>
          <p:nvPr/>
        </p:nvSpPr>
        <p:spPr>
          <a:xfrm>
            <a:off x="475488" y="2770632"/>
            <a:ext cx="201168" cy="201168"/>
          </a:xfrm>
          <a:prstGeom prst="ellipse">
            <a:avLst/>
          </a:prstGeom>
          <a:solidFill>
            <a:srgbClr val="27AE60"/>
          </a:solidFill>
          <a:ln w="12700">
            <a:solidFill>
              <a:srgbClr val="27AE60"/>
            </a:solidFill>
            <a:prstDash val="solid"/>
          </a:ln>
        </p:spPr>
      </p:sp>
      <p:sp>
        <p:nvSpPr>
          <p:cNvPr id="22" name="Text 20"/>
          <p:cNvSpPr/>
          <p:nvPr/>
        </p:nvSpPr>
        <p:spPr>
          <a:xfrm>
            <a:off x="475488" y="277063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rPr>
              <a:t>✓</a:t>
            </a:r>
            <a:endParaRPr lang="en-US" sz="800" dirty="0"/>
          </a:p>
        </p:txBody>
      </p:sp>
      <p:sp>
        <p:nvSpPr>
          <p:cNvPr id="23" name="Text 21"/>
          <p:cNvSpPr/>
          <p:nvPr/>
        </p:nvSpPr>
        <p:spPr>
          <a:xfrm>
            <a:off x="749808" y="2752344"/>
            <a:ext cx="3639312" cy="347472"/>
          </a:xfrm>
          <a:prstGeom prst="rect">
            <a:avLst/>
          </a:prstGeom>
          <a:noFill/>
          <a:ln/>
        </p:spPr>
        <p:txBody>
          <a:bodyPr wrap="square" rtlCol="0" anchor="ctr"/>
          <a:lstStyle/>
          <a:p>
            <a:pPr indent="0" marL="0">
              <a:buNone/>
            </a:pPr>
            <a:r>
              <a:rPr lang="en-US" sz="1100" dirty="0">
                <a:solidFill>
                  <a:srgbClr val="E8F4FC"/>
                </a:solidFill>
              </a:rPr>
              <a:t>Multi-format export (TXT, DOCX, PDF) tested</a:t>
            </a:r>
            <a:endParaRPr lang="en-US" sz="1100" dirty="0"/>
          </a:p>
        </p:txBody>
      </p:sp>
      <p:sp>
        <p:nvSpPr>
          <p:cNvPr id="24" name="Shape 22"/>
          <p:cNvSpPr/>
          <p:nvPr/>
        </p:nvSpPr>
        <p:spPr>
          <a:xfrm>
            <a:off x="4754880" y="658368"/>
            <a:ext cx="4114800" cy="2651760"/>
          </a:xfrm>
          <a:prstGeom prst="rect">
            <a:avLst/>
          </a:prstGeom>
          <a:solidFill>
            <a:srgbClr val="162536"/>
          </a:solidFill>
          <a:ln w="12700">
            <a:solidFill>
              <a:srgbClr val="F47B20"/>
            </a:solidFill>
            <a:prstDash val="solid"/>
          </a:ln>
          <a:effectLst>
            <a:outerShdw sx="100000" sy="100000" kx="0" ky="0" algn="bl" rotWithShape="0" blurRad="101600" dist="38100" dir="8100000">
              <a:srgbClr val="000000">
                <a:alpha val="25000"/>
              </a:srgbClr>
            </a:outerShdw>
          </a:effectLst>
        </p:spPr>
      </p:sp>
      <p:sp>
        <p:nvSpPr>
          <p:cNvPr id="25" name="Shape 23"/>
          <p:cNvSpPr/>
          <p:nvPr/>
        </p:nvSpPr>
        <p:spPr>
          <a:xfrm>
            <a:off x="4754880" y="658368"/>
            <a:ext cx="54864" cy="411480"/>
          </a:xfrm>
          <a:prstGeom prst="rect">
            <a:avLst/>
          </a:prstGeom>
          <a:solidFill>
            <a:srgbClr val="00A8E8"/>
          </a:solidFill>
          <a:ln w="12700">
            <a:solidFill>
              <a:srgbClr val="00A8E8"/>
            </a:solidFill>
            <a:prstDash val="solid"/>
          </a:ln>
        </p:spPr>
      </p:sp>
      <p:sp>
        <p:nvSpPr>
          <p:cNvPr id="26" name="Text 24"/>
          <p:cNvSpPr/>
          <p:nvPr/>
        </p:nvSpPr>
        <p:spPr>
          <a:xfrm>
            <a:off x="4919472" y="676656"/>
            <a:ext cx="3840480" cy="374904"/>
          </a:xfrm>
          <a:prstGeom prst="rect">
            <a:avLst/>
          </a:prstGeom>
          <a:noFill/>
          <a:ln/>
        </p:spPr>
        <p:txBody>
          <a:bodyPr wrap="square" rtlCol="0" anchor="ctr"/>
          <a:lstStyle/>
          <a:p>
            <a:pPr indent="0" marL="0">
              <a:buNone/>
            </a:pPr>
            <a:r>
              <a:rPr lang="en-US" sz="1300" b="1" dirty="0">
                <a:solidFill>
                  <a:srgbClr val="F47B20"/>
                </a:solidFill>
              </a:rPr>
              <a:t>📊  System Highlights</a:t>
            </a:r>
            <a:endParaRPr lang="en-US" sz="1300" dirty="0"/>
          </a:p>
        </p:txBody>
      </p:sp>
      <p:sp>
        <p:nvSpPr>
          <p:cNvPr id="27" name="Shape 25"/>
          <p:cNvSpPr/>
          <p:nvPr/>
        </p:nvSpPr>
        <p:spPr>
          <a:xfrm>
            <a:off x="4919472" y="1170432"/>
            <a:ext cx="1755648" cy="868680"/>
          </a:xfrm>
          <a:prstGeom prst="rect">
            <a:avLst/>
          </a:prstGeom>
          <a:solidFill>
            <a:srgbClr val="162536"/>
          </a:solidFill>
          <a:ln w="12700">
            <a:solidFill>
              <a:srgbClr val="F47B20"/>
            </a:solidFill>
            <a:prstDash val="solid"/>
          </a:ln>
        </p:spPr>
      </p:sp>
      <p:sp>
        <p:nvSpPr>
          <p:cNvPr id="28" name="Text 26"/>
          <p:cNvSpPr/>
          <p:nvPr/>
        </p:nvSpPr>
        <p:spPr>
          <a:xfrm>
            <a:off x="4919472" y="1216152"/>
            <a:ext cx="1755648" cy="475488"/>
          </a:xfrm>
          <a:prstGeom prst="rect">
            <a:avLst/>
          </a:prstGeom>
          <a:noFill/>
          <a:ln/>
        </p:spPr>
        <p:txBody>
          <a:bodyPr wrap="square" rtlCol="0" anchor="ctr"/>
          <a:lstStyle/>
          <a:p>
            <a:pPr algn="ctr" indent="0" marL="0">
              <a:buNone/>
            </a:pPr>
            <a:r>
              <a:rPr lang="en-US" sz="2600" b="1" dirty="0">
                <a:solidFill>
                  <a:srgbClr val="F47B20"/>
                </a:solidFill>
              </a:rPr>
              <a:t>6+</a:t>
            </a:r>
            <a:endParaRPr lang="en-US" sz="2600" dirty="0"/>
          </a:p>
        </p:txBody>
      </p:sp>
      <p:sp>
        <p:nvSpPr>
          <p:cNvPr id="29" name="Text 27"/>
          <p:cNvSpPr/>
          <p:nvPr/>
        </p:nvSpPr>
        <p:spPr>
          <a:xfrm>
            <a:off x="4919472" y="1673352"/>
            <a:ext cx="1755648" cy="274320"/>
          </a:xfrm>
          <a:prstGeom prst="rect">
            <a:avLst/>
          </a:prstGeom>
          <a:noFill/>
          <a:ln/>
        </p:spPr>
        <p:txBody>
          <a:bodyPr wrap="square" rtlCol="0" anchor="ctr"/>
          <a:lstStyle/>
          <a:p>
            <a:pPr algn="ctr" indent="0" marL="0">
              <a:buNone/>
            </a:pPr>
            <a:r>
              <a:rPr lang="en-US" sz="900" dirty="0">
                <a:solidFill>
                  <a:srgbClr val="B0C4D8"/>
                </a:solidFill>
              </a:rPr>
              <a:t>Core Modules</a:t>
            </a:r>
            <a:endParaRPr lang="en-US" sz="900" dirty="0"/>
          </a:p>
        </p:txBody>
      </p:sp>
      <p:sp>
        <p:nvSpPr>
          <p:cNvPr id="30" name="Shape 28"/>
          <p:cNvSpPr/>
          <p:nvPr/>
        </p:nvSpPr>
        <p:spPr>
          <a:xfrm>
            <a:off x="6839712" y="1170432"/>
            <a:ext cx="1755648" cy="868680"/>
          </a:xfrm>
          <a:prstGeom prst="rect">
            <a:avLst/>
          </a:prstGeom>
          <a:solidFill>
            <a:srgbClr val="162536"/>
          </a:solidFill>
          <a:ln w="12700">
            <a:solidFill>
              <a:srgbClr val="F47B20"/>
            </a:solidFill>
            <a:prstDash val="solid"/>
          </a:ln>
        </p:spPr>
      </p:sp>
      <p:sp>
        <p:nvSpPr>
          <p:cNvPr id="31" name="Text 29"/>
          <p:cNvSpPr/>
          <p:nvPr/>
        </p:nvSpPr>
        <p:spPr>
          <a:xfrm>
            <a:off x="6839712" y="1216152"/>
            <a:ext cx="1755648" cy="475488"/>
          </a:xfrm>
          <a:prstGeom prst="rect">
            <a:avLst/>
          </a:prstGeom>
          <a:noFill/>
          <a:ln/>
        </p:spPr>
        <p:txBody>
          <a:bodyPr wrap="square" rtlCol="0" anchor="ctr"/>
          <a:lstStyle/>
          <a:p>
            <a:pPr algn="ctr" indent="0" marL="0">
              <a:buNone/>
            </a:pPr>
            <a:r>
              <a:rPr lang="en-US" sz="2600" b="1" dirty="0">
                <a:solidFill>
                  <a:srgbClr val="F47B20"/>
                </a:solidFill>
              </a:rPr>
              <a:t>3</a:t>
            </a:r>
            <a:endParaRPr lang="en-US" sz="2600" dirty="0"/>
          </a:p>
        </p:txBody>
      </p:sp>
      <p:sp>
        <p:nvSpPr>
          <p:cNvPr id="32" name="Text 30"/>
          <p:cNvSpPr/>
          <p:nvPr/>
        </p:nvSpPr>
        <p:spPr>
          <a:xfrm>
            <a:off x="6839712" y="1673352"/>
            <a:ext cx="1755648" cy="274320"/>
          </a:xfrm>
          <a:prstGeom prst="rect">
            <a:avLst/>
          </a:prstGeom>
          <a:noFill/>
          <a:ln/>
        </p:spPr>
        <p:txBody>
          <a:bodyPr wrap="square" rtlCol="0" anchor="ctr"/>
          <a:lstStyle/>
          <a:p>
            <a:pPr algn="ctr" indent="0" marL="0">
              <a:buNone/>
            </a:pPr>
            <a:r>
              <a:rPr lang="en-US" sz="900" dirty="0">
                <a:solidFill>
                  <a:srgbClr val="B0C4D8"/>
                </a:solidFill>
              </a:rPr>
              <a:t>Summary Lengths</a:t>
            </a:r>
            <a:endParaRPr lang="en-US" sz="900" dirty="0"/>
          </a:p>
        </p:txBody>
      </p:sp>
      <p:sp>
        <p:nvSpPr>
          <p:cNvPr id="33" name="Shape 31"/>
          <p:cNvSpPr/>
          <p:nvPr/>
        </p:nvSpPr>
        <p:spPr>
          <a:xfrm>
            <a:off x="4919472" y="2194560"/>
            <a:ext cx="1755648" cy="868680"/>
          </a:xfrm>
          <a:prstGeom prst="rect">
            <a:avLst/>
          </a:prstGeom>
          <a:solidFill>
            <a:srgbClr val="162536"/>
          </a:solidFill>
          <a:ln w="12700">
            <a:solidFill>
              <a:srgbClr val="F47B20"/>
            </a:solidFill>
            <a:prstDash val="solid"/>
          </a:ln>
        </p:spPr>
      </p:sp>
      <p:sp>
        <p:nvSpPr>
          <p:cNvPr id="34" name="Text 32"/>
          <p:cNvSpPr/>
          <p:nvPr/>
        </p:nvSpPr>
        <p:spPr>
          <a:xfrm>
            <a:off x="4919472" y="2240280"/>
            <a:ext cx="1755648" cy="475488"/>
          </a:xfrm>
          <a:prstGeom prst="rect">
            <a:avLst/>
          </a:prstGeom>
          <a:noFill/>
          <a:ln/>
        </p:spPr>
        <p:txBody>
          <a:bodyPr wrap="square" rtlCol="0" anchor="ctr"/>
          <a:lstStyle/>
          <a:p>
            <a:pPr algn="ctr" indent="0" marL="0">
              <a:buNone/>
            </a:pPr>
            <a:r>
              <a:rPr lang="en-US" sz="2600" b="1" dirty="0">
                <a:solidFill>
                  <a:srgbClr val="F47B20"/>
                </a:solidFill>
              </a:rPr>
              <a:t>5</a:t>
            </a:r>
            <a:endParaRPr lang="en-US" sz="2600" dirty="0"/>
          </a:p>
        </p:txBody>
      </p:sp>
      <p:sp>
        <p:nvSpPr>
          <p:cNvPr id="35" name="Text 33"/>
          <p:cNvSpPr/>
          <p:nvPr/>
        </p:nvSpPr>
        <p:spPr>
          <a:xfrm>
            <a:off x="4919472" y="2697480"/>
            <a:ext cx="1755648" cy="274320"/>
          </a:xfrm>
          <a:prstGeom prst="rect">
            <a:avLst/>
          </a:prstGeom>
          <a:noFill/>
          <a:ln/>
        </p:spPr>
        <p:txBody>
          <a:bodyPr wrap="square" rtlCol="0" anchor="ctr"/>
          <a:lstStyle/>
          <a:p>
            <a:pPr algn="ctr" indent="0" marL="0">
              <a:buNone/>
            </a:pPr>
            <a:r>
              <a:rPr lang="en-US" sz="900" dirty="0">
                <a:solidFill>
                  <a:srgbClr val="B0C4D8"/>
                </a:solidFill>
              </a:rPr>
              <a:t>Supported Formats</a:t>
            </a:r>
            <a:endParaRPr lang="en-US" sz="900" dirty="0"/>
          </a:p>
        </p:txBody>
      </p:sp>
      <p:sp>
        <p:nvSpPr>
          <p:cNvPr id="36" name="Shape 34"/>
          <p:cNvSpPr/>
          <p:nvPr/>
        </p:nvSpPr>
        <p:spPr>
          <a:xfrm>
            <a:off x="6839712" y="2194560"/>
            <a:ext cx="1755648" cy="868680"/>
          </a:xfrm>
          <a:prstGeom prst="rect">
            <a:avLst/>
          </a:prstGeom>
          <a:solidFill>
            <a:srgbClr val="162536"/>
          </a:solidFill>
          <a:ln w="12700">
            <a:solidFill>
              <a:srgbClr val="F47B20"/>
            </a:solidFill>
            <a:prstDash val="solid"/>
          </a:ln>
        </p:spPr>
      </p:sp>
      <p:sp>
        <p:nvSpPr>
          <p:cNvPr id="37" name="Text 35"/>
          <p:cNvSpPr/>
          <p:nvPr/>
        </p:nvSpPr>
        <p:spPr>
          <a:xfrm>
            <a:off x="6839712" y="2240280"/>
            <a:ext cx="1755648" cy="475488"/>
          </a:xfrm>
          <a:prstGeom prst="rect">
            <a:avLst/>
          </a:prstGeom>
          <a:noFill/>
          <a:ln/>
        </p:spPr>
        <p:txBody>
          <a:bodyPr wrap="square" rtlCol="0" anchor="ctr"/>
          <a:lstStyle/>
          <a:p>
            <a:pPr algn="ctr" indent="0" marL="0">
              <a:buNone/>
            </a:pPr>
            <a:r>
              <a:rPr lang="en-US" sz="2600" b="1" dirty="0">
                <a:solidFill>
                  <a:srgbClr val="F47B20"/>
                </a:solidFill>
              </a:rPr>
              <a:t>3</a:t>
            </a:r>
            <a:endParaRPr lang="en-US" sz="2600" dirty="0"/>
          </a:p>
        </p:txBody>
      </p:sp>
      <p:sp>
        <p:nvSpPr>
          <p:cNvPr id="38" name="Text 36"/>
          <p:cNvSpPr/>
          <p:nvPr/>
        </p:nvSpPr>
        <p:spPr>
          <a:xfrm>
            <a:off x="6839712" y="2697480"/>
            <a:ext cx="1755648" cy="274320"/>
          </a:xfrm>
          <a:prstGeom prst="rect">
            <a:avLst/>
          </a:prstGeom>
          <a:noFill/>
          <a:ln/>
        </p:spPr>
        <p:txBody>
          <a:bodyPr wrap="square" rtlCol="0" anchor="ctr"/>
          <a:lstStyle/>
          <a:p>
            <a:pPr algn="ctr" indent="0" marL="0">
              <a:buNone/>
            </a:pPr>
            <a:r>
              <a:rPr lang="en-US" sz="900" dirty="0">
                <a:solidFill>
                  <a:srgbClr val="B0C4D8"/>
                </a:solidFill>
              </a:rPr>
              <a:t>Export Formats</a:t>
            </a:r>
            <a:endParaRPr lang="en-US" sz="900" dirty="0"/>
          </a:p>
        </p:txBody>
      </p:sp>
      <p:sp>
        <p:nvSpPr>
          <p:cNvPr id="39" name="Shape 37"/>
          <p:cNvSpPr/>
          <p:nvPr/>
        </p:nvSpPr>
        <p:spPr>
          <a:xfrm>
            <a:off x="274320" y="3456432"/>
            <a:ext cx="8595360" cy="1389888"/>
          </a:xfrm>
          <a:prstGeom prst="rect">
            <a:avLst/>
          </a:prstGeom>
          <a:solidFill>
            <a:srgbClr val="0A1628"/>
          </a:solidFill>
          <a:ln w="19050">
            <a:solidFill>
              <a:srgbClr val="00A8E8"/>
            </a:solidFill>
            <a:prstDash val="solid"/>
          </a:ln>
          <a:effectLst>
            <a:outerShdw sx="100000" sy="100000" kx="0" ky="0" algn="bl" rotWithShape="0" blurRad="101600" dist="38100" dir="8100000">
              <a:srgbClr val="000000">
                <a:alpha val="25000"/>
              </a:srgbClr>
            </a:outerShdw>
          </a:effectLst>
        </p:spPr>
      </p:sp>
      <p:sp>
        <p:nvSpPr>
          <p:cNvPr id="40" name="Shape 38"/>
          <p:cNvSpPr/>
          <p:nvPr/>
        </p:nvSpPr>
        <p:spPr>
          <a:xfrm>
            <a:off x="274320" y="3456432"/>
            <a:ext cx="8595360" cy="384048"/>
          </a:xfrm>
          <a:prstGeom prst="rect">
            <a:avLst/>
          </a:prstGeom>
          <a:solidFill>
            <a:srgbClr val="00A8E8">
              <a:alpha val="90000"/>
            </a:srgbClr>
          </a:solidFill>
          <a:ln w="12700">
            <a:solidFill>
              <a:srgbClr val="00A8E8"/>
            </a:solidFill>
            <a:prstDash val="solid"/>
          </a:ln>
        </p:spPr>
      </p:sp>
      <p:sp>
        <p:nvSpPr>
          <p:cNvPr id="41" name="Text 39"/>
          <p:cNvSpPr/>
          <p:nvPr/>
        </p:nvSpPr>
        <p:spPr>
          <a:xfrm>
            <a:off x="457200" y="3465576"/>
            <a:ext cx="8229600" cy="365760"/>
          </a:xfrm>
          <a:prstGeom prst="rect">
            <a:avLst/>
          </a:prstGeom>
          <a:noFill/>
          <a:ln/>
        </p:spPr>
        <p:txBody>
          <a:bodyPr wrap="square" rtlCol="0" anchor="ctr"/>
          <a:lstStyle/>
          <a:p>
            <a:pPr indent="0" marL="0">
              <a:buNone/>
            </a:pPr>
            <a:r>
              <a:rPr lang="en-US" sz="1400" b="1" dirty="0">
                <a:solidFill>
                  <a:srgbClr val="FFFFFF"/>
                </a:solidFill>
              </a:rPr>
              <a:t>🎯  Conclusion</a:t>
            </a:r>
            <a:endParaRPr lang="en-US" sz="1400" dirty="0"/>
          </a:p>
        </p:txBody>
      </p:sp>
      <p:sp>
        <p:nvSpPr>
          <p:cNvPr id="42" name="Text 40"/>
          <p:cNvSpPr/>
          <p:nvPr/>
        </p:nvSpPr>
        <p:spPr>
          <a:xfrm>
            <a:off x="457200" y="3886200"/>
            <a:ext cx="8275320" cy="868680"/>
          </a:xfrm>
          <a:prstGeom prst="rect">
            <a:avLst/>
          </a:prstGeom>
          <a:noFill/>
          <a:ln/>
        </p:spPr>
        <p:txBody>
          <a:bodyPr wrap="square" rtlCol="0" anchor="ctr"/>
          <a:lstStyle/>
          <a:p>
            <a:pPr indent="0" marL="0">
              <a:lnSpc>
                <a:spcPct val="140000"/>
              </a:lnSpc>
              <a:buNone/>
            </a:pPr>
            <a:r>
              <a:rPr lang="en-US" sz="1150" dirty="0">
                <a:solidFill>
                  <a:srgbClr val="E8F4FC"/>
                </a:solidFill>
              </a:rPr>
              <a:t>The AI File Management System successfully transforms static document archiving into an active, intelligent, and conversational experience. By combining OCR, semantic search, AI summarization, auto-tagging, and LLM-powered chat, it solves the modern data management problem — turning passive file archives into searchable, interactive knowledge bases.</a:t>
            </a:r>
            <a:endParaRPr lang="en-US" sz="1150" dirty="0"/>
          </a:p>
        </p:txBody>
      </p:sp>
      <p:sp>
        <p:nvSpPr>
          <p:cNvPr id="43" name="Shape 41"/>
          <p:cNvSpPr/>
          <p:nvPr/>
        </p:nvSpPr>
        <p:spPr>
          <a:xfrm>
            <a:off x="0" y="4983480"/>
            <a:ext cx="9144000" cy="164592"/>
          </a:xfrm>
          <a:prstGeom prst="rect">
            <a:avLst/>
          </a:prstGeom>
          <a:solidFill>
            <a:srgbClr val="1B263B"/>
          </a:solidFill>
          <a:ln w="12700">
            <a:solidFill>
              <a:srgbClr val="1B263B"/>
            </a:solidFill>
            <a:prstDash val="solid"/>
          </a:ln>
        </p:spPr>
      </p:sp>
      <p:sp>
        <p:nvSpPr>
          <p:cNvPr id="44" name="Text 42"/>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AI File Management System  |  Ben Sebastian Joseph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371600" y="1828800"/>
            <a:ext cx="4572000" cy="4572000"/>
          </a:xfrm>
          <a:prstGeom prst="ellipse">
            <a:avLst/>
          </a:prstGeom>
          <a:solidFill>
            <a:srgbClr val="00A8E8">
              <a:alpha val="8000"/>
            </a:srgbClr>
          </a:solidFill>
          <a:ln w="12700">
            <a:solidFill>
              <a:srgbClr val="00A8E8">
                <a:alpha val="20000"/>
              </a:srgbClr>
            </a:solidFill>
            <a:prstDash val="solid"/>
          </a:ln>
        </p:spPr>
      </p:sp>
      <p:sp>
        <p:nvSpPr>
          <p:cNvPr id="3" name="Shape 1"/>
          <p:cNvSpPr/>
          <p:nvPr/>
        </p:nvSpPr>
        <p:spPr>
          <a:xfrm>
            <a:off x="6400800" y="-1371600"/>
            <a:ext cx="4114800" cy="4114800"/>
          </a:xfrm>
          <a:prstGeom prst="ellipse">
            <a:avLst/>
          </a:prstGeom>
          <a:solidFill>
            <a:srgbClr val="F47B20">
              <a:alpha val="8000"/>
            </a:srgbClr>
          </a:solidFill>
          <a:ln w="12700">
            <a:solidFill>
              <a:srgbClr val="F47B20">
                <a:alpha val="20000"/>
              </a:srgbClr>
            </a:solidFill>
            <a:prstDash val="solid"/>
          </a:ln>
        </p:spPr>
      </p:sp>
      <p:sp>
        <p:nvSpPr>
          <p:cNvPr id="4" name="Shape 2"/>
          <p:cNvSpPr/>
          <p:nvPr/>
        </p:nvSpPr>
        <p:spPr>
          <a:xfrm>
            <a:off x="0" y="0"/>
            <a:ext cx="9144000" cy="73152"/>
          </a:xfrm>
          <a:prstGeom prst="rect">
            <a:avLst/>
          </a:prstGeom>
          <a:solidFill>
            <a:srgbClr val="00A8E8"/>
          </a:solidFill>
          <a:ln w="12700">
            <a:solidFill>
              <a:srgbClr val="00A8E8"/>
            </a:solidFill>
            <a:prstDash val="solid"/>
          </a:ln>
        </p:spPr>
      </p:sp>
      <p:sp>
        <p:nvSpPr>
          <p:cNvPr id="5" name="Text 3"/>
          <p:cNvSpPr/>
          <p:nvPr/>
        </p:nvSpPr>
        <p:spPr>
          <a:xfrm>
            <a:off x="914400" y="777240"/>
            <a:ext cx="7315200" cy="100584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6" name="Text 4"/>
          <p:cNvSpPr/>
          <p:nvPr/>
        </p:nvSpPr>
        <p:spPr>
          <a:xfrm>
            <a:off x="914400" y="1691640"/>
            <a:ext cx="7315200" cy="502920"/>
          </a:xfrm>
          <a:prstGeom prst="rect">
            <a:avLst/>
          </a:prstGeom>
          <a:noFill/>
          <a:ln/>
        </p:spPr>
        <p:txBody>
          <a:bodyPr wrap="square" rtlCol="0" anchor="ctr"/>
          <a:lstStyle/>
          <a:p>
            <a:pPr algn="ctr" indent="0" marL="0">
              <a:buNone/>
            </a:pPr>
            <a:r>
              <a:rPr lang="en-US" sz="2000" i="1" dirty="0">
                <a:solidFill>
                  <a:srgbClr val="00A8E8"/>
                </a:solidFill>
              </a:rPr>
              <a:t>&amp; Welcome to the Live Demonstration</a:t>
            </a:r>
            <a:endParaRPr lang="en-US" sz="2000" dirty="0"/>
          </a:p>
        </p:txBody>
      </p:sp>
      <p:sp>
        <p:nvSpPr>
          <p:cNvPr id="7" name="Shape 5"/>
          <p:cNvSpPr/>
          <p:nvPr/>
        </p:nvSpPr>
        <p:spPr>
          <a:xfrm>
            <a:off x="2743200" y="2377440"/>
            <a:ext cx="3657600" cy="36576"/>
          </a:xfrm>
          <a:prstGeom prst="rect">
            <a:avLst/>
          </a:prstGeom>
          <a:solidFill>
            <a:srgbClr val="00A8E8">
              <a:alpha val="70000"/>
            </a:srgbClr>
          </a:solidFill>
          <a:ln w="12700">
            <a:solidFill>
              <a:srgbClr val="00A8E8">
                <a:alpha val="70000"/>
              </a:srgbClr>
            </a:solidFill>
            <a:prstDash val="solid"/>
          </a:ln>
        </p:spPr>
      </p:sp>
      <p:sp>
        <p:nvSpPr>
          <p:cNvPr id="8" name="Text 6"/>
          <p:cNvSpPr/>
          <p:nvPr/>
        </p:nvSpPr>
        <p:spPr>
          <a:xfrm>
            <a:off x="914400" y="2578608"/>
            <a:ext cx="7315200" cy="347472"/>
          </a:xfrm>
          <a:prstGeom prst="rect">
            <a:avLst/>
          </a:prstGeom>
          <a:noFill/>
          <a:ln/>
        </p:spPr>
        <p:txBody>
          <a:bodyPr wrap="square" rtlCol="0" anchor="ctr"/>
          <a:lstStyle/>
          <a:p>
            <a:pPr algn="ctr" indent="0" marL="0">
              <a:buNone/>
            </a:pPr>
            <a:r>
              <a:rPr lang="en-US" sz="1400" b="1" dirty="0">
                <a:solidFill>
                  <a:srgbClr val="FFFFFF"/>
                </a:solidFill>
              </a:rPr>
              <a:t>Ben Sebastian Joseph</a:t>
            </a:r>
            <a:pPr algn="ctr" indent="0" marL="0">
              <a:buNone/>
            </a:pPr>
            <a:r>
              <a:rPr lang="en-US" sz="1400" dirty="0">
                <a:solidFill>
                  <a:srgbClr val="B0C4D8"/>
                </a:solidFill>
              </a:rPr>
              <a:t>  |  </a:t>
            </a:r>
            <a:pPr algn="ctr" indent="0" marL="0">
              <a:buNone/>
            </a:pPr>
            <a:r>
              <a:rPr lang="en-US" sz="1400" dirty="0">
                <a:solidFill>
                  <a:srgbClr val="F47B20"/>
                </a:solidFill>
              </a:rPr>
              <a:t>AI File Management System</a:t>
            </a:r>
            <a:endParaRPr lang="en-US" sz="1400" dirty="0"/>
          </a:p>
        </p:txBody>
      </p:sp>
      <p:sp>
        <p:nvSpPr>
          <p:cNvPr id="9" name="Text 7"/>
          <p:cNvSpPr/>
          <p:nvPr/>
        </p:nvSpPr>
        <p:spPr>
          <a:xfrm>
            <a:off x="914400" y="2971800"/>
            <a:ext cx="7315200" cy="274320"/>
          </a:xfrm>
          <a:prstGeom prst="rect">
            <a:avLst/>
          </a:prstGeom>
          <a:noFill/>
          <a:ln/>
        </p:spPr>
        <p:txBody>
          <a:bodyPr wrap="square" rtlCol="0" anchor="ctr"/>
          <a:lstStyle/>
          <a:p>
            <a:pPr algn="ctr" indent="0" marL="0">
              <a:buNone/>
            </a:pPr>
            <a:r>
              <a:rPr lang="en-US" sz="1200" dirty="0">
                <a:solidFill>
                  <a:srgbClr val="B0C4D8"/>
                </a:solidFill>
              </a:rPr>
              <a:t>Amal Jyothi College of Engineering, Kanjirapally (Autonomous)</a:t>
            </a:r>
            <a:endParaRPr lang="en-US" sz="1200" dirty="0"/>
          </a:p>
        </p:txBody>
      </p:sp>
      <p:sp>
        <p:nvSpPr>
          <p:cNvPr id="10" name="Text 8"/>
          <p:cNvSpPr/>
          <p:nvPr/>
        </p:nvSpPr>
        <p:spPr>
          <a:xfrm>
            <a:off x="914400" y="3291840"/>
            <a:ext cx="7315200" cy="274320"/>
          </a:xfrm>
          <a:prstGeom prst="rect">
            <a:avLst/>
          </a:prstGeom>
          <a:noFill/>
          <a:ln/>
        </p:spPr>
        <p:txBody>
          <a:bodyPr wrap="square" rtlCol="0" anchor="ctr"/>
          <a:lstStyle/>
          <a:p>
            <a:pPr algn="ctr" indent="0" marL="0">
              <a:buNone/>
            </a:pPr>
            <a:r>
              <a:rPr lang="en-US" sz="1200" dirty="0">
                <a:solidFill>
                  <a:srgbClr val="B0C4D8"/>
                </a:solidFill>
              </a:rPr>
              <a:t>Project Guide &amp; Coordinator: Ms. Selin Sam</a:t>
            </a:r>
            <a:endParaRPr lang="en-US" sz="1200" dirty="0"/>
          </a:p>
        </p:txBody>
      </p:sp>
      <p:sp>
        <p:nvSpPr>
          <p:cNvPr id="11" name="Shape 9"/>
          <p:cNvSpPr/>
          <p:nvPr/>
        </p:nvSpPr>
        <p:spPr>
          <a:xfrm>
            <a:off x="2286000" y="3794760"/>
            <a:ext cx="4572000" cy="640080"/>
          </a:xfrm>
          <a:prstGeom prst="rect">
            <a:avLst/>
          </a:prstGeom>
          <a:solidFill>
            <a:srgbClr val="00A8E8">
              <a:alpha val="85000"/>
            </a:srgbClr>
          </a:solidFill>
          <a:ln w="25400">
            <a:solidFill>
              <a:srgbClr val="00A8E8"/>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2286000" y="3794760"/>
            <a:ext cx="4572000" cy="640080"/>
          </a:xfrm>
          <a:prstGeom prst="rect">
            <a:avLst/>
          </a:prstGeom>
          <a:noFill/>
          <a:ln/>
        </p:spPr>
        <p:txBody>
          <a:bodyPr wrap="square" lIns="0" tIns="0" rIns="0" bIns="0" rtlCol="0" anchor="ctr"/>
          <a:lstStyle/>
          <a:p>
            <a:pPr algn="ctr" indent="0" marL="0">
              <a:buNone/>
            </a:pPr>
            <a:r>
              <a:rPr lang="en-US" sz="1400" b="1" dirty="0">
                <a:solidFill>
                  <a:srgbClr val="FFFFFF"/>
                </a:solidFill>
              </a:rPr>
              <a:t>▶  Proceeding to Live Demonstration</a:t>
            </a:r>
            <a:endParaRPr lang="en-US" sz="1400" dirty="0"/>
          </a:p>
        </p:txBody>
      </p:sp>
      <p:sp>
        <p:nvSpPr>
          <p:cNvPr id="13" name="Shape 11"/>
          <p:cNvSpPr/>
          <p:nvPr/>
        </p:nvSpPr>
        <p:spPr>
          <a:xfrm>
            <a:off x="0" y="4983480"/>
            <a:ext cx="9144000" cy="164592"/>
          </a:xfrm>
          <a:prstGeom prst="rect">
            <a:avLst/>
          </a:prstGeom>
          <a:solidFill>
            <a:srgbClr val="1B263B"/>
          </a:solidFill>
          <a:ln w="12700">
            <a:solidFill>
              <a:srgbClr val="1B263B"/>
            </a:solidFill>
            <a:prstDash val="solid"/>
          </a:ln>
        </p:spPr>
      </p:sp>
      <p:sp>
        <p:nvSpPr>
          <p:cNvPr id="14" name="Text 12"/>
          <p:cNvSpPr/>
          <p:nvPr/>
        </p:nvSpPr>
        <p:spPr>
          <a:xfrm>
            <a:off x="274320" y="4992624"/>
            <a:ext cx="8595360" cy="146304"/>
          </a:xfrm>
          <a:prstGeom prst="rect">
            <a:avLst/>
          </a:prstGeom>
          <a:noFill/>
          <a:ln/>
        </p:spPr>
        <p:txBody>
          <a:bodyPr wrap="square" rtlCol="0" anchor="ctr"/>
          <a:lstStyle/>
          <a:p>
            <a:pPr algn="ctr" indent="0" marL="0">
              <a:buNone/>
            </a:pPr>
            <a:r>
              <a:rPr lang="en-US" sz="900" dirty="0">
                <a:solidFill>
                  <a:srgbClr val="B0C4D8"/>
                </a:solidFill>
              </a:rPr>
              <a:t>AI File Management System  |  Final Review  |  2025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File Management System</dc:title>
  <dc:subject>PptxGenJS Presentation</dc:subject>
  <dc:creator>Ben Sebastian Joseph</dc:creator>
  <cp:lastModifiedBy>Ben Sebastian Joseph</cp:lastModifiedBy>
  <cp:revision>1</cp:revision>
  <dcterms:created xsi:type="dcterms:W3CDTF">2026-03-24T07:50:37Z</dcterms:created>
  <dcterms:modified xsi:type="dcterms:W3CDTF">2026-03-24T07:50:37Z</dcterms:modified>
</cp:coreProperties>
</file>